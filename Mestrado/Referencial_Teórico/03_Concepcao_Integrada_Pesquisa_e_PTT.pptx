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Concepção Integrada da pesquisa de mestrado e do Produto Técnico-Tecnológico (PTT), organizada nas 4 dimensões do instrumento de avaliação: Núcleo, Base, Operação e Impacto. Tempo ~10 min. Ao final, colegas e professor avaliam e contribuem.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apresentação. As 4 dimensões são o instrumento de avaliação do programa. Vou percorrer cada uma aplicada ao meu projeto e, ao final de cada bloco, respondo à síntese (Registro Global). A espinha que costura tudo é a assimetria de informação.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científico, não apenas profissional: é a seleção adversa aplicada à contratação integrada. O TCU já reconhece a assimetria como falha sistêmica dos anteprojetos. O Acórdão 686/2026 é emblemático: identificou a assimetria mas não pôde corrigir sem prejudicar a obra já adjudicada — prova de que o controle reativo chega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responde diretamente à pergunta. Os quatro específicos são etapas analíticas encadeadas (não só método). As 4 categorias de indutores: (i) lacunas em projetos (geotecnia/sondagem); (ii) falhas de dimensionamento de insumos; (iii) inadequação de especificações e metodologias; (iv) inconformidade com SINAPI/SICRO.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eixos do referencial teórico (README da pasta). O fichamento aprofundado foi feito de Nóbrega &amp; Jurubeba (2020), que traduz a economia da informação para o Direito das licitações (signaling/screening) e mostra que a mitigação da assimetria deve ser ex ante — exatamente onde o framework atua.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cadeia de valor científico do modelo do professor, preenchida para o meu projeto. Cada elo puxa o próximo: a pergunta define as evidências necessárias; as evidências são acessíveis (bases públicas do TCU/CGU, SINAPI/SICRO); as inferências geram a contribuição. A pesquisa não se limita a descrever — visa avaliar e explicar.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DSR (Hevner et al., 2004) é a abordagem adequada ao mestrado profissional orientado à solução. A validação combina triangulação retrospectiva (comparar os alertas do framework com achados reais de auditoria já conhecidos) e entrevistas semiestruturadas com auditores, engenheiros e gestores de integridade, com análise de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integração dissertação-PTT é o coração do mestrado profissional. Inovação: converter critérios qualitativos de engenharia em parâmetros algorítmicos verificáveis, rompendo com a auditoria reativa, amostral e dependente da expertise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PTT é o produto exigido pelo edital (processo/tecnologia). Ele materializa a inovação: transforma conhecimento tácito de engenharia (viabilidade de jazidas, produtividade de insumos, conformidade referencial) em regras verificáveis e automatizáveis. A arquitetura é documentada para replicação por equipes de TI de qualquer órgão.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argumentativo: demonstro que as 4 dimensões não são compartimentos, mas um encadeamento único. Esse é o teste de coerência interna que o instrumento de avaliação exige.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Encerro convidando a turma e o professor a avaliar (usando o próprio instrumento das 4 dimensões) e a contribuir com os rumos. Deixo 3 perguntas abertas para dirigir 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463040"/>
            <a:ext cx="3108960" cy="0"/>
          </a:xfrm>
          <a:prstGeom prst="line">
            <a:avLst/>
          </a:prstGeom>
          <a:noFill/>
          <a:ln w="9525">
            <a:solidFill>
              <a:srgbClr val="C7C2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914400"/>
            <a:ext cx="2377440" cy="2377440"/>
          </a:xfrm>
          <a:prstGeom prst="line">
            <a:avLst/>
          </a:prstGeom>
          <a:noFill/>
          <a:ln w="9525">
            <a:solidFill>
              <a:srgbClr val="C7C2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005840"/>
            <a:ext cx="0" cy="2468880"/>
          </a:xfrm>
          <a:prstGeom prst="line">
            <a:avLst/>
          </a:prstGeom>
          <a:noFill/>
          <a:ln w="9525">
            <a:solidFill>
              <a:srgbClr val="C7C2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2651760"/>
            <a:ext cx="822960" cy="548640"/>
          </a:xfrm>
          <a:prstGeom prst="rect">
            <a:avLst/>
          </a:prstGeom>
          <a:ln w="9525">
            <a:solidFill>
              <a:srgbClr val="C7C2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1828800"/>
            <a:ext cx="502920" cy="502920"/>
          </a:xfrm>
          <a:prstGeom prst="rect">
            <a:avLst/>
          </a:prstGeom>
          <a:ln w="9525">
            <a:solidFill>
              <a:srgbClr val="C7C2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2103120"/>
            <a:ext cx="2011680" cy="0"/>
          </a:xfrm>
          <a:prstGeom prst="line">
            <a:avLst/>
          </a:prstGeom>
          <a:noFill/>
          <a:ln w="9525">
            <a:solidFill>
              <a:srgbClr val="C7C2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66928"/>
            <a:ext cx="3858768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CONCEPÇÃO INTEGRADA DA PESQUISA E DO PTT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5544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Auditoria Preventiva</a:t>
            </a:r>
            <a:endParaRPr lang="en-US" sz="4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baseado em Inteligência Artificial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34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assimetria de informação em anteprojetos de grandes obras públicas — especificação e validação no contexto das contratações integradas.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5257800"/>
            <a:ext cx="7498080" cy="0"/>
          </a:xfrm>
          <a:prstGeom prst="line">
            <a:avLst/>
          </a:prstGeom>
          <a:noFill/>
          <a:ln w="9525">
            <a:solidFill>
              <a:srgbClr val="9AA3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35838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de Castro Barreto Junior</a:t>
            </a:r>
            <a:pPr algn="l" indent="0" marL="0">
              <a:buNone/>
            </a:pPr>
            <a:r>
              <a:rPr lang="en-US" sz="13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Controladoria-Geral da União (CGU)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87568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Mestrado Profissional em Controle da Administração Pública  ·  Linha 2 — Tecnologias para Inovação do Controle e da Gestão Pública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dimensões da Concepção Integrada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73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22392" y="17922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F7D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2239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7568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Núcleo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420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pergunta e objetivos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34640"/>
            <a:ext cx="4928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assimetria de informação como falha sistêmica — e o objeto do framework.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57276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773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E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073384" y="17922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AE7C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73384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07568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5420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E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Literatura e conceitos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834640"/>
            <a:ext cx="4928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da informação, contratação integrada, IA/PLN e Design Science.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968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22392" y="39867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F6A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22392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27024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7365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e inferência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029200"/>
            <a:ext cx="4928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lógica pergunta→contribuição e o método (DSR em 4 fases).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376732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3968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073384" y="39867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447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1073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427024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Impacto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47365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dissertação–PTT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55664" y="5029200"/>
            <a:ext cx="4928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artefato aplicável ao controle preventivo pré-licitatório.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avaliação não é isolada: as 4 dimensões devem demonstrar aderência e coerência interna constante.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2156155" cy="329184"/>
          </a:xfrm>
          <a:prstGeom prst="roundRect">
            <a:avLst>
              <a:gd name="adj" fmla="val 13889"/>
            </a:avLst>
          </a:prstGeom>
          <a:solidFill>
            <a:srgbClr val="2F7D70"/>
          </a:solidFill>
          <a:ln w="12700">
            <a:solidFill>
              <a:srgbClr val="2F7D7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1 · O NÚCLEO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problema: assimetria de informação estrutural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contratação integrada (Leis 13.303/2016 e 14.133/2021), a Administração licita com anteprojeto; o vencedor elabora os projetos básico e executivo.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cria uma assimetria informacional estrutural: quem detém o conhecimento técnico não é quem desenha o certame.</a:t>
            </a:r>
            <a:endParaRPr lang="en-US" sz="13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3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Lacunas técnicas não detectadas antes da licitação tornam o contrato desequilibrado desde a celebração — abrindo espaço para pleitos oportunistas de reequilíbrio.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5943600" cy="1234440"/>
          </a:xfrm>
          <a:prstGeom prst="roundRect">
            <a:avLst>
              <a:gd name="adj" fmla="val 4444"/>
            </a:avLst>
          </a:prstGeom>
          <a:solidFill>
            <a:srgbClr val="E7F0ED"/>
          </a:solidFill>
          <a:ln w="15875">
            <a:solidFill>
              <a:srgbClr val="2F7D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02920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eficaz de intervenção
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controle preventivo pré-licitatório é o único momento em que a correção é viável sem gerar dano maior (periculum in mora reverso).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7830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— JURISPRUDÊNCIA DO TCU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12280" y="2121408"/>
            <a:ext cx="4800600" cy="2148840"/>
          </a:xfrm>
          <a:prstGeom prst="roundRect">
            <a:avLst>
              <a:gd name="adj" fmla="val 2553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2286000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Acórdão 686/2026 — Plenário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51760"/>
            <a:ext cx="434340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FIOL II, Lote 5FC (R$ 506,5 mi): anteprojeto sem sondagens e estudos técnicos “gera assimetria de informações entre os licitantes”. Certame não suspenso — periculum in mora reverso.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4453128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4617720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Acórdão 2.429/2024 — Plenário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983480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substanciais nas condições de contorno do anteprojeto podem redundar em aditivo de reequilíbrio econômico-financeiro.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2156155" cy="329184"/>
          </a:xfrm>
          <a:prstGeom prst="roundRect">
            <a:avLst>
              <a:gd name="adj" fmla="val 13889"/>
            </a:avLst>
          </a:prstGeom>
          <a:solidFill>
            <a:srgbClr val="2F7D70"/>
          </a:solidFill>
          <a:ln w="12700">
            <a:solidFill>
              <a:srgbClr val="2F7D7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1 · O NÚCLEO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orientadora e objetivos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89320" cy="1371600"/>
          </a:xfrm>
          <a:prstGeom prst="roundRect">
            <a:avLst>
              <a:gd name="adj" fmla="val 4000"/>
            </a:avLst>
          </a:prstGeom>
          <a:solidFill>
            <a:srgbClr val="E7F0ED"/>
          </a:solidFill>
          <a:ln w="15875">
            <a:solidFill>
              <a:srgbClr val="2F7D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ORIENTADORA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57984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framework baseado em IA pode identificar e mitigar sistematicamente as assimetrias de informação em anteprojetos de grandes obras, prevenindo desequilíbrios contratuais nas contratações integradas?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5989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projetar e especificar o framework de auditoria preventiva e gerar especificação técnica + protótipo demonstrativo aplicáveis pelo controle interno e externo.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24528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98848"/>
            <a:ext cx="5989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e sistematizar os indutores de assimetria (4 categorias).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Operacionalizar parâmetros técnicos de verificação por tipologia construtiva.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Projetar a arquitetura lógica do framework em 3 camadas funcionais.</a:t>
            </a:r>
            <a:endParaRPr lang="en-US" sz="12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por estudo de casos em 3 editais reais + entrevistas com especialistas.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754880" cy="4389120"/>
          </a:xfrm>
          <a:prstGeom prst="roundRect">
            <a:avLst>
              <a:gd name="adj" fmla="val 1250"/>
            </a:avLst>
          </a:prstGeom>
          <a:solidFill>
            <a:srgbClr val="FBFAF4"/>
          </a:solidFill>
          <a:ln w="15875">
            <a:solidFill>
              <a:srgbClr val="2F7D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1883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F7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GLOBAL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212848"/>
            <a:ext cx="429768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Problema, pergunta e objetivos formam um núcleo claro, delimitado e internamente coerente: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o problema é científico — a seleção adversa (Akerlof) aplicada ao anteprojeto;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a pergunta é investigável e tem escopo compatível com o mestrado;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os objetivos desdobram a pergunta em operações analíticas — mapear → operacionalizar → projetar → validar — e não em meros procedimentos metodológicos.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1976933" cy="329184"/>
          </a:xfrm>
          <a:prstGeom prst="roundRect">
            <a:avLst>
              <a:gd name="adj" fmla="val 13889"/>
            </a:avLst>
          </a:prstGeom>
          <a:solidFill>
            <a:srgbClr val="AE7C1F"/>
          </a:solidFill>
          <a:ln w="12700">
            <a:solidFill>
              <a:srgbClr val="AE7C1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2 · A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base: literatura e conceitos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28800"/>
            <a:ext cx="146304" cy="146304"/>
          </a:xfrm>
          <a:prstGeom prst="ellipse">
            <a:avLst/>
          </a:prstGeom>
          <a:solidFill>
            <a:srgbClr val="AE7C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1755648"/>
            <a:ext cx="47274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Controle preventivo &amp; accountability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231136"/>
            <a:ext cx="4727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reativo × preventivo; relação agente-principal; erro grosseiro (LINDB); momento pré-licitatório.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572768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828800"/>
            <a:ext cx="146304" cy="146304"/>
          </a:xfrm>
          <a:prstGeom prst="ellipse">
            <a:avLst/>
          </a:prstGeom>
          <a:solidFill>
            <a:srgbClr val="AE7C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755648"/>
            <a:ext cx="47274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Assimetria &amp; economia dos contratos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231136"/>
            <a:ext cx="4727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adversa e risco moral; custos de transação e contratos incompletos. Akerlof; Arrow; Stiglitz; Williamson; Nóbrega &amp; Jurubeba.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3456432"/>
            <a:ext cx="146304" cy="146304"/>
          </a:xfrm>
          <a:prstGeom prst="ellipse">
            <a:avLst/>
          </a:prstGeom>
          <a:solidFill>
            <a:srgbClr val="AE7C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4128" y="3383280"/>
            <a:ext cx="47274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Contratação integrada &amp; grandes obras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858768"/>
            <a:ext cx="4727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 13.303/16 e 14.133/21; anteprojeto e precisão orçamentária; matriz de riscos, reequilíbrio e integridade.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320040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3456432"/>
            <a:ext cx="146304" cy="146304"/>
          </a:xfrm>
          <a:prstGeom prst="ellipse">
            <a:avLst/>
          </a:prstGeom>
          <a:solidFill>
            <a:srgbClr val="AE7C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383280"/>
            <a:ext cx="47274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IA, PLN &amp; Design Science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858768"/>
            <a:ext cx="4727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IA/PLN no setor público e na detecção de irregularidades; DSR como paradigma de construção e validação do artefato. Wirtz; dos Santos; Hevner.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18304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E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fontes da matriz:  </a:t>
            </a:r>
            <a:pPr algn="l" indent="0" marL="0">
              <a:buNone/>
            </a:pPr>
            <a:r>
              <a:rPr lang="en-US" sz="12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Akerlof (1970)  ·  Nóbrega &amp; Jurubeba (2020)  ·  Hevner et al. (2004)  ·  Wirtz et al. (2019)  ·  dos Santos et al. (2025)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3EAD3"/>
          </a:solidFill>
          <a:ln w="15875">
            <a:solidFill>
              <a:srgbClr val="AE7C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4865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E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GLOBAL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5778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literatura oferece base pertinente e suficiente: ancora o problema (economia da informação), o domínio (contratação integrada) e o método-tecnologia (IA/PLN + DSR), justificando a pergunta e a contribuição pretendida.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2335378" cy="329184"/>
          </a:xfrm>
          <a:prstGeom prst="roundRect">
            <a:avLst>
              <a:gd name="adj" fmla="val 13889"/>
            </a:avLst>
          </a:prstGeom>
          <a:solidFill>
            <a:srgbClr val="CF6A4F"/>
          </a:solidFill>
          <a:ln w="12700">
            <a:solidFill>
              <a:srgbClr val="CF6A4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3 · A OPERAÇÃO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de valor científico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5732" y="196596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FBFAF4"/>
          </a:solidFill>
          <a:ln w="15875">
            <a:solidFill>
              <a:srgbClr val="CF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5460" y="214884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70052" y="2478024"/>
            <a:ext cx="1417320" cy="0"/>
          </a:xfrm>
          <a:prstGeom prst="line">
            <a:avLst/>
          </a:prstGeom>
          <a:noFill/>
          <a:ln w="9525">
            <a:solidFill>
              <a:srgbClr val="D8D2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5460" y="26243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2036" y="3136392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Mitigar a assimetria em anteprojetos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79396" y="29672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854300" y="196596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FBFAF4"/>
          </a:solidFill>
          <a:ln w="15875">
            <a:solidFill>
              <a:srgbClr val="CF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4028" y="214884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8620" y="2478024"/>
            <a:ext cx="1417320" cy="0"/>
          </a:xfrm>
          <a:prstGeom prst="line">
            <a:avLst/>
          </a:prstGeom>
          <a:noFill/>
          <a:ln w="9525">
            <a:solidFill>
              <a:srgbClr val="D8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64028" y="26243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000604" y="3136392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adversa; conformidade técnica; DSR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37964" y="29672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5112868" y="196596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FBFAF4"/>
          </a:solidFill>
          <a:ln w="15875">
            <a:solidFill>
              <a:srgbClr val="CF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22596" y="214884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DE DADOS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87188" y="2478024"/>
            <a:ext cx="1417320" cy="0"/>
          </a:xfrm>
          <a:prstGeom prst="line">
            <a:avLst/>
          </a:prstGeom>
          <a:noFill/>
          <a:ln w="9525">
            <a:solidFill>
              <a:srgbClr val="D8D2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22596" y="26243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259172" y="3136392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Jurisprudência TCU, relatórios CGU, editais, SINAPI/SICRO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96532" y="29672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7371436" y="196596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FBFAF4"/>
          </a:solidFill>
          <a:ln w="15875">
            <a:solidFill>
              <a:srgbClr val="CF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81164" y="214884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45756" y="2478024"/>
            <a:ext cx="1417320" cy="0"/>
          </a:xfrm>
          <a:prstGeom prst="line">
            <a:avLst/>
          </a:prstGeom>
          <a:noFill/>
          <a:ln w="9525">
            <a:solidFill>
              <a:srgbClr val="D8D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81164" y="26243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Inferências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517740" y="3136392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Indutores de assimetria e desvios sinalizáveis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255100" y="29672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9630004" y="196596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FBFAF4"/>
          </a:solidFill>
          <a:ln w="15875">
            <a:solidFill>
              <a:srgbClr val="CF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39732" y="214884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904324" y="2478024"/>
            <a:ext cx="1417320" cy="0"/>
          </a:xfrm>
          <a:prstGeom prst="line">
            <a:avLst/>
          </a:prstGeom>
          <a:noFill/>
          <a:ln w="9525">
            <a:solidFill>
              <a:srgbClr val="D8D2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39732" y="26243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776308" y="3136392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+ protocolo de auditoria preventiva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Coerência absoluta e demonstrável entre os elos da cadeia: pergunta → conceitos → evidências necessárias → inferências possíveis → contribuição esperada.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2335378" cy="329184"/>
          </a:xfrm>
          <a:prstGeom prst="roundRect">
            <a:avLst>
              <a:gd name="adj" fmla="val 13889"/>
            </a:avLst>
          </a:prstGeom>
          <a:solidFill>
            <a:srgbClr val="CF6A4F"/>
          </a:solidFill>
          <a:ln w="12700">
            <a:solidFill>
              <a:srgbClr val="CF6A4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3 · A OPERAÇÃO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método: Design Science Research em 4 fases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89320" cy="1024128"/>
          </a:xfrm>
          <a:prstGeom prst="roundRect">
            <a:avLst>
              <a:gd name="adj" fmla="val 5357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83664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M1–6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57984"/>
            <a:ext cx="5550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sistemática — jurisprudência do TCU e relatórios da CGU (2017–2026); revisão bibliográfica (CAPES).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989320" cy="1024128"/>
          </a:xfrm>
          <a:prstGeom prst="roundRect">
            <a:avLst>
              <a:gd name="adj" fmla="val 5357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3035808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M7–12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310128"/>
            <a:ext cx="5550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das regras algorítmicas e especificação da arquitetura em 3 camadas; painel demonstrativo (Power BI).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5989320" cy="1024128"/>
          </a:xfrm>
          <a:prstGeom prst="roundRect">
            <a:avLst>
              <a:gd name="adj" fmla="val 5357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187952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M13–18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462272"/>
            <a:ext cx="5550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a 3 editais reais (edificação, rodovia, ferrovia; ≥ R$ 200 mi); triangulação retrospectiva + entrevistas.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193792"/>
            <a:ext cx="5989320" cy="1024128"/>
          </a:xfrm>
          <a:prstGeom prst="roundRect">
            <a:avLst>
              <a:gd name="adj" fmla="val 5357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5340096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M19–24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614416"/>
            <a:ext cx="5550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Dissertação em 2 artigos + PTT; submissão de artigo Qualis ≥ A4.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1737360"/>
            <a:ext cx="4754880" cy="4224528"/>
          </a:xfrm>
          <a:prstGeom prst="roundRect">
            <a:avLst>
              <a:gd name="adj" fmla="val 1299"/>
            </a:avLst>
          </a:prstGeom>
          <a:solidFill>
            <a:srgbClr val="F7E7E1"/>
          </a:solidFill>
          <a:ln w="15875">
            <a:solidFill>
              <a:srgbClr val="CF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1883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F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GLOBAL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212848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concepção apresenta cadeia lógica coerente entre pergunta, conceitos, evidências, inferências e contribuição.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evidências são acessíveis nas condições da pesquisa: bases públicas do TCU e da CGU, editais reais e tabelas SINAPI/SICRO.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pesquisa distingue o que fará: mais do que descrever, ela avalia e explica — detecta e mitiga a assimetria — sob o rigor do Design Science Research.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2245766" cy="329184"/>
          </a:xfrm>
          <a:prstGeom prst="roundRect">
            <a:avLst>
              <a:gd name="adj" fmla="val 13889"/>
            </a:avLst>
          </a:prstGeom>
          <a:solidFill>
            <a:srgbClr val="34477E"/>
          </a:solidFill>
          <a:ln w="12700">
            <a:solidFill>
              <a:srgbClr val="34477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4 · O IMPACTO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dissertação–PTT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89320" cy="1051560"/>
          </a:xfrm>
          <a:prstGeom prst="roundRect">
            <a:avLst>
              <a:gd name="adj" fmla="val 5217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83664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76272"/>
            <a:ext cx="5550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dissertação (2 artigos, sob DSR) fundamenta e valida o artefato; o PTT é o produto diretamente aplicável ao controle.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5989320" cy="1051560"/>
          </a:xfrm>
          <a:prstGeom prst="roundRect">
            <a:avLst>
              <a:gd name="adj" fmla="val 5217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3081528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Destinatário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374136"/>
            <a:ext cx="5550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auditor governamental (CGU e TCU), o gestor público e o gestor de integridade — cliente externo do artefato.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5989320" cy="1417320"/>
          </a:xfrm>
          <a:prstGeom prst="roundRect">
            <a:avLst>
              <a:gd name="adj" fmla="val 3871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279392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572000"/>
            <a:ext cx="5550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 (auditoria preventiva no momento viável), operacional (menos dependência de expertise individual) e fiscal (previne pleitos → economicidade).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858000" y="1737360"/>
            <a:ext cx="4754880" cy="3977640"/>
          </a:xfrm>
          <a:prstGeom prst="roundRect">
            <a:avLst>
              <a:gd name="adj" fmla="val 1379"/>
            </a:avLst>
          </a:prstGeom>
          <a:solidFill>
            <a:srgbClr val="E4E8F2"/>
          </a:solidFill>
          <a:ln w="15875">
            <a:solidFill>
              <a:srgbClr val="3447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1883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GLOBAL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212848"/>
            <a:ext cx="429768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conexão substantiva, justificável e plausível entre a pesquisa proposta e o PTT preliminar.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tem destinatário claro (o controle), finalidade definida (prevenção pré-licitatória) e complexidade compatível — integra engenharia, direito administrativo, economia dos contratos e ciência da computação.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dissertação existe para produzir e validar o artefato: rigor científico a serviço de relevância prática.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3410712" cy="329184"/>
          </a:xfrm>
          <a:prstGeom prst="roundRect">
            <a:avLst>
              <a:gd name="adj" fmla="val 13889"/>
            </a:avLst>
          </a:prstGeom>
          <a:solidFill>
            <a:srgbClr val="34477E"/>
          </a:solidFill>
          <a:ln w="12700">
            <a:solidFill>
              <a:srgbClr val="34477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TÉCNICO-TECNOLÓGICO (PTT)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Especificação técnica + protótipo demonstrativo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 processo/tecnologia (item 1.9 “a” do edital) — arquitetura lógica em 3 camadas funcionais.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7040880" cy="1170432"/>
          </a:xfrm>
          <a:prstGeom prst="roundRect">
            <a:avLst>
              <a:gd name="adj" fmla="val 4688"/>
            </a:avLst>
          </a:prstGeom>
          <a:solidFill>
            <a:srgbClr val="FBFAF4"/>
          </a:solidFill>
          <a:ln w="15875">
            <a:solidFill>
              <a:srgbClr val="3447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304288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E4E8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30428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84832" y="22677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 &amp; normalização documental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084832" y="26700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Anteprojetos, memoriais descritivos e planilhas orçamentárias — formatos, metadados e pré-processamento.</a:t>
            </a:r>
            <a:endParaRPr lang="en-US" sz="118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7040880" cy="1170432"/>
          </a:xfrm>
          <a:prstGeom prst="roundRect">
            <a:avLst>
              <a:gd name="adj" fmla="val 4688"/>
            </a:avLst>
          </a:prstGeom>
          <a:solidFill>
            <a:srgbClr val="FBFAF4"/>
          </a:solidFill>
          <a:ln w="15875">
            <a:solidFill>
              <a:srgbClr val="3447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621024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E4E8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621024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84832" y="35844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conformidade (PLN)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084832" y="39867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dos 4 indutores de assimetria + cruzamento com as tabelas referenciais SINAPI / SICRO.</a:t>
            </a:r>
            <a:endParaRPr lang="en-US" sz="118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4425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718304"/>
            <a:ext cx="7040880" cy="1170432"/>
          </a:xfrm>
          <a:prstGeom prst="roundRect">
            <a:avLst>
              <a:gd name="adj" fmla="val 4688"/>
            </a:avLst>
          </a:prstGeom>
          <a:solidFill>
            <a:srgbClr val="FBFAF4"/>
          </a:solidFill>
          <a:ln w="15875">
            <a:solidFill>
              <a:srgbClr val="3447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93776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E4E8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9377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084832" y="490118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alertas &amp; relatório de riscos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2084832" y="5303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dos indicadores de risco e relatório exportável ao auditor (Power BI).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818120" y="2084832"/>
            <a:ext cx="3794760" cy="3767328"/>
          </a:xfrm>
          <a:prstGeom prst="roundRect">
            <a:avLst>
              <a:gd name="adj" fmla="val 1456"/>
            </a:avLst>
          </a:prstGeom>
          <a:solidFill>
            <a:srgbClr val="E4E8F2"/>
          </a:solidFill>
          <a:ln w="12700">
            <a:solidFill>
              <a:srgbClr val="3447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2249424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DO PRODUTO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2615184"/>
            <a:ext cx="33192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+ bases públicas gratuitas (SINAPI/Caixa e SICRO/DNIT).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ao Power BI (licença já disponível na CGU).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Replicável por qualquer órgão de controle, sem custo de licenciamento.</a:t>
            </a:r>
            <a:endParaRPr lang="en-US" sz="12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 com especialistas e aplicado a casos reais.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153"/>
            </a:avLst>
          </a:prstGeom>
          <a:ln w="9525">
            <a:solidFill>
              <a:srgbClr val="9AA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Coerência integrada: as 4 dimensões costuradas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83080"/>
            <a:ext cx="2606040" cy="566928"/>
          </a:xfrm>
          <a:prstGeom prst="roundRect">
            <a:avLst>
              <a:gd name="adj" fmla="val 8065"/>
            </a:avLst>
          </a:prstGeom>
          <a:solidFill>
            <a:srgbClr val="2F7D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830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Núcleo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74650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assimetria de informação estrutural no anteprojeto da contratação integrada.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862072"/>
            <a:ext cx="2606040" cy="566928"/>
          </a:xfrm>
          <a:prstGeom prst="roundRect">
            <a:avLst>
              <a:gd name="adj" fmla="val 8065"/>
            </a:avLst>
          </a:prstGeom>
          <a:solidFill>
            <a:srgbClr val="AE7C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8620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25496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da informação + contratação integrada + IA/PLN + Design Science.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941064"/>
            <a:ext cx="2606040" cy="566928"/>
          </a:xfrm>
          <a:prstGeom prst="roundRect">
            <a:avLst>
              <a:gd name="adj" fmla="val 8065"/>
            </a:avLst>
          </a:prstGeom>
          <a:solidFill>
            <a:srgbClr val="CF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94106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0448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pergunta→contribuição validada por DSR sobre evidências reais (TCU/CGU/SINAPI-SICRO).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BFAF4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020056"/>
            <a:ext cx="2606040" cy="566928"/>
          </a:xfrm>
          <a:prstGeom prst="roundRect">
            <a:avLst>
              <a:gd name="adj" fmla="val 8065"/>
            </a:avLst>
          </a:prstGeom>
          <a:solidFill>
            <a:srgbClr val="3447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02005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Impacto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9834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PTT: auditoria preventiva pré-licitatória, aplicável e replicável no controle.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espinha que costura as quatro dimensões é a mesma: prevenir a assimetria de informação antes da licitação.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640080"/>
            <a:ext cx="8229600" cy="5577840"/>
          </a:xfrm>
          <a:prstGeom prst="ellipse">
            <a:avLst/>
          </a:prstGeom>
          <a:ln w="9525">
            <a:solidFill>
              <a:srgbClr val="C7C2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097280"/>
            <a:ext cx="6766560" cy="4663440"/>
          </a:xfrm>
          <a:prstGeom prst="ellipse">
            <a:avLst/>
          </a:prstGeom>
          <a:ln w="6350">
            <a:solidFill>
              <a:srgbClr val="C7C2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com rigor e propósito.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2697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434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alinhamento entre a excelência científica da dissertação e a relevância prática do Produto Técnico-Tecnológico (PTT).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3794760"/>
            <a:ext cx="6858000" cy="2148840"/>
          </a:xfrm>
          <a:prstGeom prst="roundRect">
            <a:avLst>
              <a:gd name="adj" fmla="val 2553"/>
            </a:avLst>
          </a:prstGeom>
          <a:solidFill>
            <a:srgbClr val="FBFAF4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395020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contribuição dos colegas e do professor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4315968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recorte de 3 editais (edificação, rodovia, ferrovia) é suficiente para a validação?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priorizar os 4 indutores de assimetria na primeira versão do motor de conformidade?</a:t>
            </a:r>
            <a:endParaRPr lang="en-US" sz="12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50" dirty="0">
                <a:solidFill>
                  <a:srgbClr val="43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critérios os especialistas deveriam usar para validar os alertas do painel?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626364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de Castro Barreto Junior  ·  CGU  ·  Mestrado Profissional em Controle da Administração Pública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Concepção Integrada da Pesquisa e do PTT</dc:title>
  <dc:subject>PptxGenJS Presentation</dc:subject>
  <dc:creator>José de Castro Barreto Junior</dc:creator>
  <cp:lastModifiedBy>José de Castro Barreto Junior</cp:lastModifiedBy>
  <cp:revision>1</cp:revision>
  <dcterms:created xsi:type="dcterms:W3CDTF">2026-09-22T13:23:28Z</dcterms:created>
  <dcterms:modified xsi:type="dcterms:W3CDTF">2026-09-22T13:23:28Z</dcterms:modified>
</cp:coreProperties>
</file>