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e25b564-bcf4-378a-9b04-a64a41602d6d}">
          <p14:sldIdLst>
            <p14:sldId id="256"/>
            <p14:sldId id="257"/>
          </p14:sldIdLst>
        </p14:section>
        <p14:section name="Diagnóstico" id="{34660e79-84f6-76ce-2c14-8312e4b9e2f1}">
          <p14:sldIdLst>
            <p14:sldId id="258"/>
            <p14:sldId id="259"/>
            <p14:sldId id="260"/>
            <p14:sldId id="261"/>
          </p14:sldIdLst>
        </p14:section>
        <p14:section name="Proposta" id="{f4888b9e-df36-bdcc-bf2f-d1c854f33d07}">
          <p14:sldIdLst>
            <p14:sldId id="262"/>
            <p14:sldId id="263"/>
            <p14:sldId id="264"/>
            <p14:sldId id="265"/>
            <p14:sldId id="266"/>
          </p14:sldIdLst>
        </p14:section>
        <p14:section name="Racional econômico" id="{90861161-cb41-574d-9da9-3bb72c22a240}">
          <p14:sldIdLst>
            <p14:sldId id="267"/>
            <p14:sldId id="268"/>
            <p14:sldId id="269"/>
          </p14:sldIdLst>
        </p14:section>
        <p14:section name="Governança e território" id="{f877822e-6cbb-2708-1f4d-ded749f1bbcb}">
          <p14:sldIdLst>
            <p14:sldId id="270"/>
            <p14:sldId id="271"/>
            <p14:sldId id="272"/>
          </p14:sldIdLst>
        </p14:section>
        <p14:section name="Implementação" id="{45e34309-1cbc-dd3a-4464-7df040bb96b7}">
          <p14:sldIdLst>
            <p14:sldId id="273"/>
            <p14:sldId id="274"/>
            <p14:sldId id="275"/>
          </p14:sldIdLst>
        </p14:section>
        <p14:section name="Encerramento" id="{c1b36cc3-157f-5438-60d7-d7867e21c151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D2E"/>
                </a:solidFill>
                <a:latin typeface="+mn-lt"/>
              </a:rPr>
              <a:t>Ideb do ensino médio (rede total) — meta: 5,2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9CC9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Brasil</c:v>
                  </c:pt>
                  <c:pt idx="1">
                    <c:v>Amapá</c:v>
                  </c:pt>
                  <c:pt idx="2">
                    <c:v>Roraima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3.8</c:v>
                </c:pt>
                <c:pt idx="2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Brasil</c:v>
                  </c:pt>
                  <c:pt idx="1">
                    <c:v>Amapá</c:v>
                  </c:pt>
                  <c:pt idx="2">
                    <c:v>Roraima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</c:v>
                </c:pt>
                <c:pt idx="1">
                  <c:v>4</c:v>
                </c:pt>
                <c:pt idx="2">
                  <c:v>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nome remete ao Marco Zero do Equador, em Macapá: a linha que divide o planeta e que, nos equinócios, alinha o sol ao monumento. A proposta é que o Amapá seja o marco zero de um novo modelo de desenvolvimento territorial baseado em educação, tecnologia e cooperação público-privada, sem criar órgão novo nem gastar orçamento adicional.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central em uma frase. Respondemos à pergunta orientadora (gestão pública bottom-up para os municípios) com um ecossistema que aproveita o que já existe: acordos não onerosos do MEC com Microsoft e Google, a fibra da Infovia 00, as universidades locais e os recursos privados obrigatórios de PD&amp;I. A política pública aqui é de coordenação, não de gasto.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do prompt: avaliar Amapá ou Roraima. As características regionais não inviabilizam o projeto porque ele é desenhado em camadas de maturidade. O Amapá reúne o que falta em outros lugares: fibra óptica de alta capacidade (Infovia 00, do programa Norte Conectado), poucos municípios com população concentrada, universidades e institutos de pesquisa, incentivos fiscais existentes e uma janela econômica (Margem Equatorial e bioeconomia). Roraima fica como segunda onda, para provar a replicabilidade.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território pequeno, muito concentrado na capital, com a maior proporção de áreas protegidas do país e uma economia dependente do setor público. O ensino médio avançou (de 3,8 para 4,0), mas segue abaixo da média nacional (4,5) e longe da meta de 5,2. No PISA 2022, o Brasil fez 379 pontos em matemática contra 472 da média da OCDE: o desafio nacional é ainda mais agudo no Norte.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 do problema. Cinco causas: lacunas de aprendizagem (matemática), pouca formação docente para tecnologia, assimetria de informação entre redes e fornecedores, falha de coordenação entre atores e um ambiente de negócios rarefeito. As consequências vão além da escola: juventude sem perspectiva, dependência do emprego público, pressão de economias ilegais sobre a floresta e baixa capacidade estatal de decidir com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Multissetorialidade: o problema não se resolve só na educação. Exige coordenação com ciência e tecnologia, desenvolvimento econômico, comunicações, meio ambiente e assistência social. Transversalidade: juventude, gênero, povos tradicionais, clima, acessibilidade e proteção de dados atravessam todas as ações; por exemplo, conteúdos bilíngues para os povos indígenas do Oiapoque e metas específicas para meninas nas trilhas de tecnologia.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intervenção tem cinco componentes sobre uma base comum de dados. A vitrine é a porta de entrada local do Ecossistema do MEC. As escolas-laboratório são o ambiente controlado de experimentação previsto no próprio Ecossistema. Os professores multiplicadores levam a formação em cascata. O Jovem Dev Equatorial reforça matemática e pensamento computacional com projetos usando dados reais do território. A aceleradora transforma problemas públicos em negócios locais.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direta à preocupação de que o programa fosse avançado demais para o Estado. Usamos as camadas da visão macro do Ecossistema do MEC: conectividade, equipagem, gestão escolar, ferramentas de aula, gestão de informações e ferramentas complementares. Duas camadas já estão disponíveis hoje sem custo. O programa avança por maturidade, não por decreto.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Teoria da mudança no formato pedido: problema público, intervenção, resultados esperados e mudança desejada. O valor público tem quatro dimensões: aprendizagem, empregabilidade, densidade econômica e capacidade estatal de decidir com dados. A hipótese causal é explícita, o que permite testá-la.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processo no mesmo modelo indicado nas orientações: contexto, recursos, atividades, produtos, resultados, impactos e condições externas. As metas de produto referem-se a 2027; as de resultado e impacto, ao horizonte 2028–2030.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Monitoramento com poucos indicadores, todos de fontes já existentes. A avaliação de impacto usa implementação escalonada: as escolas entram em ondas sorteadas, e as que ainda não entraram funcionam como grupo de comparação. Isso permite estimar o efeito causal sem negar a política a ninguém.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Racional econômico. Falhas de mercado: assimetria de informação (a rede não sabe o que funciona e o fornecedor não conhece a demanda), externalidades do capital humano, falha de coordenação e o problema de autodescoberta de Hausmann e Rodrik. Falhas de governo: fragmentação, compras pouco aptas à inovação e risco de captura. Ação coletiva (Olson e Ostrom): ninguém investe sozinho no bem comum, por isso precisamos de uma organização-âncora e de incentivos seletivos.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Desenho de mecanismos: uma plataforma de dois lados, como em Rochet e Tirole. De um lado, a demanda pública; do outro, a oferta privada e acadêmica. As regras criam incentivos para que bons fornecedores entrem e provem resultados, sem exclusividade. O financiamento vem de fontes privadas ou de obrigações regulatórias já existentes: licenças doadas, a cláusula de PD&amp;I da Lei 8.387/1991 (que inclui o Amapá), o Programa de Eficiência Energética da Aneel, investimento social privado e um fundo patrimonial. Orçamento indicativo: cerca de R$ 2,5 milhões por ano para a secretaria executiva, os desafios, os bootcamps e a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Questões federativas. Respeitamos as competências: o ensino médio é do Estado, o fundamental dos municípios, e a União coordena e apoia. Nenhum instrumento novo precisa ser criado: termo de adesão simplificado, protocolo de intenções, arranjos de desenvolvimento da educação entre municípios, acordos de cooperação não onerosos, o MROSC e o Marco Legal das Startups. O ICMS Educacional e o VAAR já premiam municípios que melhoram a aprendizagem, o que alinha os incentivos sem gasto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Governança colaborativa no sentido de Ansell e Gash: um fórum deliberativo leve (o Conselho do Pacto), uma organização-âncora que já existe e coordena (impacto coletivo, de Kania e Kramer), um comitê técnico de validação pedagógica e uma rede de escolas. Para gerar uma ordem de acesso aberto (North, Wallis e Weingast), as regras são impessoais: qualquer organização pode entrar, os critérios são públicos e ninguém tem exclusividade. É a principal proteção contra a captura.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Vocações territoriais. O Amapá tem cerca de 73% do território protegido: a vocação natural é a bioeconomia de alto valor agregado, e não a derrubada. Há também energia, a fronteira com a União Europeia via Guiana Francesa, a economia criativa e os serviços digitais remotos. Para orientar as políticas, propomos um mapa participativo de vocações por município, desafios municipais ligados a essas vocações e o alinhamento das transferências que já premiam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de futuro. Assim como o Vale do Silício nasceu da densidade de relações entre universidade, empresas e capital (Saxenian), o Vale do Marco Zero nasce de uma rede: começamos pequenos em 2027, crescemos até 2030 e consolidamos um polo até 2035. O cenário econômico é ilustrativo, com premissas explícitas: cada turma de 2.000 jovens, com 25% de inserção em ocupações digitais a R$ 3.000 por mês, gera cerca de R$ 18 milhões por ano em nova massa salarial, renda que circula no comércio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Cronograma. A janela de transição dos governos eleitos em 2026 é a oportunidade para pactuar antes da posse. Em 2027: pacto no primeiro trimestre, ativação no segundo, aceleração no terceiro (com o Demo Day do Equinócio em setembro, no Marco Zero) e avaliação no quarto, com o plano de expansão.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principais. O maior é a dependência de grandes empresas de tecnologia: por isso exigimos vários fornecedores, padrões abertos e portabilidade. O segundo é a proteção de dados de crianças e adolescentes. Também tratamos conectividade, resistência docente, descontinuidade política e captura. A fuga de talentos é mitigada pelo trabalho remoto e pela criação de startups locais.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orientadora: como pensar a gestão pública bottom-up? Partimos da escola e do município, e não do gabinete: é o mapeamento reverso de Elmore. Propomos um kit municipal de cinco passos, replicável em qualquer um dos 5.570 municípios. Papel do controle (Linha 2 do programa): atuar de forma preventiva e orientadora, avaliar governança, abrir dados para o controle social e dar segurança jurídica a quem inova, nos termos da LINDB.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pelos seis atributos de um produto técnico-tecnológico. Custo-benefício: cerca de R$ 2,5 milhões por ano de fontes privadas, para mais de 5 mil beneficiários diretos, ou seja, cerca de R$ 500 por pessoa. Frase final: do Marco Zero do Equador ao marco zero de um novo modelo de desenvolvimento territorial.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completas no artigo, em ABNT.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15468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Vale do Marco Zero · Desenvolvimento Territorial · Proposta 2027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5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9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PROPOSTA DE PROGRAMA PÚBLICO · 2027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Vale do Marco Zero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154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Ecossistema Territorial de Inovação Educacional e Digital do Amapá — uma política bottom-up, de adesão voluntária e sem orçamento público novo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Avaliação do Produto Final (APF) · Área: Controle Governamental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Linha 2 — Tecnologias para Inovação do Controle e da Gestão Pública (interface com a Linha 1)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[Estudante 1] · [e-mail]   |   [Estudante 2] · [e-mail]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0" y="47548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0035" y="5036515"/>
            <a:ext cx="716890" cy="716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A PERGUNTA E A RESPOSTA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Como avançar no Pacto Federativo a partir do território?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Nossa proposta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Um ecossistema territorial que conecta escolas, universidades, empresas e startups do Amapá às soluções digitais que já existem — por adesão voluntária, sem órgão novo e sem orçamento público adicional.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343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Baseado no Ecossistema de Inovação e Soluções Educacionais Digitais do MEC (Decreto nº 11.079/2022, art. 8º), adaptado à escala do território e às suas vocações.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554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R$ 0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orçamento público novo: licenças doadas, PD&amp;I obrigatório e investimento social privado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268833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268833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municípios aderem voluntariamente, em ondas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382219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38221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componentes integrados: vitrine, escolas-laboratório, formação, juventude e aceleração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49560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2035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49560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visão de futuro: um polo de inovação na linha do Equador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ESCOLHA DO TERRITÓRIO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Por que começar pelo Amapá — e não por Roraima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Amapá (piloto 2027)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Roraima (2ª onda)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Escala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16 municípios; 60% da população em Macapá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15 municípios; 65% em Boa Vista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Infraestrutura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Infovia 00: 770 km de fibra subfluvial em operação desde 2022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Interligado ao sistema elétrico nacional só a partir de 2026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Janela econômica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Margem Equatorial (licença de perfuração em 2025) e bioeconomia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Fronteira com a Guiana (boom do petróleo) e o agronegócio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Fronteira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Guiana Francesa: território da União Europeia (ponte de Oiapoque)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Venezuela e Guiana; fluxo migratório intenso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Incentivos que já existem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ALC Macapá–Santana, Zona Franca Verde, PD&amp;I da Lei 8.387/1991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ALC Boa Vista e Bonfim, PD&amp;I da Lei 8.387/1991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Necessidade (Ideb EM 2025)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4,0 (Brasil: 4,5; meta: 5,2)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3,8 (Brasil: 4,5; meta: 5,2)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554480"/>
            <a:ext cx="2880360" cy="429768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006840" y="1783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774" y="1944014"/>
            <a:ext cx="409651" cy="4096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068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Recomendação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9006840" y="31089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Amapá como piloto: a infraestrutura de dados já chegou, a escala é administrável e há uma janela econômica aberta. Roraima entra em 2029, quando a integração energética estiver madura — o que testa a replicabilidade.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Fontes: IBGE (Censo 2022); RNP (Norte Conectado); Ibama/Petrobras (2025); Aneel (2026); Inep (Ideb 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DIAGNÓSTICO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território em números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733.759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habitantes (Censo 2022) em 16 municípios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7432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0332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60%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 população vive em Macapá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27432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~73%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território está em áreas protegidas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3794760"/>
            <a:ext cx="27432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88%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PIB no setor terciário, puxado pela administração pública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583680" y="1554480"/>
          <a:ext cx="5029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Fontes: IBGE (Censo 2022); Sema-AP (2023); Infra S.A. (2026); Inep (Ideb 2023 e 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1 · PROBLEMA PÚBLICO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Escola, tecnologia e economia não se conversam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Causas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Consequências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8404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Lacunas de aprendizagem, sobretudo em matemática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8404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74320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Pouca formação docente para o uso pedagógico da tecnologia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38404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6616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Redes não sabem quais soluções funcionam; fornecedores não conhecem a demanda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38404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38912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Ninguém coordena Estado, municípios, universidades e empresas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384048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21208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Pouco capital, mentoria e mercado para quem quer empreender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1920240"/>
            <a:ext cx="3840480" cy="713232"/>
          </a:xfrm>
          <a:prstGeom prst="roundRect">
            <a:avLst>
              <a:gd name="adj" fmla="val 15385"/>
            </a:avLst>
          </a:prstGeom>
          <a:solidFill>
            <a:srgbClr val="F6E7E2"/>
          </a:solidFill>
          <a:ln w="12700">
            <a:solidFill>
              <a:srgbClr val="F6E7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192024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Ideb do ensino médio em 4,0 e abandono escolar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2743200"/>
            <a:ext cx="3840480" cy="713232"/>
          </a:xfrm>
          <a:prstGeom prst="roundRect">
            <a:avLst>
              <a:gd name="adj" fmla="val 15385"/>
            </a:avLst>
          </a:prstGeom>
          <a:solidFill>
            <a:srgbClr val="F6E7E2"/>
          </a:solidFill>
          <a:ln w="12700">
            <a:solidFill>
              <a:srgbClr val="F6E7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274320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Jovens sem estudo nem trabalho e fuga de talentos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3566160"/>
            <a:ext cx="3840480" cy="713232"/>
          </a:xfrm>
          <a:prstGeom prst="roundRect">
            <a:avLst>
              <a:gd name="adj" fmla="val 15385"/>
            </a:avLst>
          </a:prstGeom>
          <a:solidFill>
            <a:srgbClr val="F6E7E2"/>
          </a:solidFill>
          <a:ln w="12700">
            <a:solidFill>
              <a:srgbClr val="F6E7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356616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Dependência do emprego público e de transferências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0" y="4389120"/>
            <a:ext cx="3840480" cy="713232"/>
          </a:xfrm>
          <a:prstGeom prst="roundRect">
            <a:avLst>
              <a:gd name="adj" fmla="val 15385"/>
            </a:avLst>
          </a:prstGeom>
          <a:solidFill>
            <a:srgbClr val="F6E7E2"/>
          </a:solidFill>
          <a:ln w="12700">
            <a:solidFill>
              <a:srgbClr val="F6E7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438912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Pressão de economias ilegais sobre a floresta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0" y="5212080"/>
            <a:ext cx="3840480" cy="713232"/>
          </a:xfrm>
          <a:prstGeom prst="roundRect">
            <a:avLst>
              <a:gd name="adj" fmla="val 15385"/>
            </a:avLst>
          </a:prstGeom>
          <a:solidFill>
            <a:srgbClr val="F6E7E2"/>
          </a:solidFill>
          <a:ln w="12700">
            <a:solidFill>
              <a:srgbClr val="F6E7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521208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Estado decide com poucos dados e pouca evidência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237744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Problema público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29718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juventude amapaense aprende pouco e encontra poucas oportunidades produtivas no território, porque a escola está desconectada da tecnologia e da economia local.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434840" y="3703320"/>
            <a:ext cx="256032" cy="365760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3703320"/>
            <a:ext cx="256032" cy="365760"/>
          </a:xfrm>
          <a:prstGeom prst="rightArrow">
            <a:avLst/>
          </a:prstGeom>
          <a:solidFill>
            <a:srgbClr val="B9472F"/>
          </a:solidFill>
          <a:ln w="12700">
            <a:solidFill>
              <a:srgbClr val="B9472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1 · PROBLEMA PÚBLICO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Um problema multissetorial e transversal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Multissetorialidade — setores que precisam agir juntos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508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Transversalidade — perspectivas em todas as ações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1323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Educação (Estado e municípios)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818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Ciência, tecnologia e inovação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5039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Desenvolvimento econômico e trabalho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18978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Comunicações e conectividade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4875581"/>
            <a:ext cx="307238" cy="30723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8016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Meio ambiente e bioeconomia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5561381"/>
            <a:ext cx="307238" cy="30723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Assistência social (busca ativa)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6263640" y="20116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4341" y="2132381"/>
            <a:ext cx="307238" cy="30723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9516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Juventude e transição escola–trabalho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6263640" y="26974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4341" y="2818181"/>
            <a:ext cx="307238" cy="30723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99516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Equidade de gênero: meninas em STEM</a:t>
            </a:r>
            <a:endParaRPr lang="en-US" sz="1500" dirty="0"/>
          </a:p>
        </p:txBody>
      </p:sp>
      <p:sp>
        <p:nvSpPr>
          <p:cNvPr id="30" name="Shape 20"/>
          <p:cNvSpPr/>
          <p:nvPr/>
        </p:nvSpPr>
        <p:spPr>
          <a:xfrm>
            <a:off x="6263640" y="33832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4341" y="3503981"/>
            <a:ext cx="307238" cy="307238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9516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Povos indígenas, quilombolas e ribeirinhos</a:t>
            </a:r>
            <a:endParaRPr lang="en-US" sz="1500" dirty="0"/>
          </a:p>
        </p:txBody>
      </p:sp>
      <p:sp>
        <p:nvSpPr>
          <p:cNvPr id="33" name="Shape 22"/>
          <p:cNvSpPr/>
          <p:nvPr/>
        </p:nvSpPr>
        <p:spPr>
          <a:xfrm>
            <a:off x="6263640" y="40690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4341" y="4189781"/>
            <a:ext cx="307238" cy="30723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99516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Sustentabilidade e clima</a:t>
            </a:r>
            <a:endParaRPr lang="en-US" sz="1500" dirty="0"/>
          </a:p>
        </p:txBody>
      </p:sp>
      <p:sp>
        <p:nvSpPr>
          <p:cNvPr id="36" name="Shape 24"/>
          <p:cNvSpPr/>
          <p:nvPr/>
        </p:nvSpPr>
        <p:spPr>
          <a:xfrm>
            <a:off x="6263640" y="47548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4341" y="4875581"/>
            <a:ext cx="307238" cy="307238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9516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Acessibilidade para pessoas com deficiência</a:t>
            </a:r>
            <a:endParaRPr lang="en-US" sz="1500" dirty="0"/>
          </a:p>
        </p:txBody>
      </p:sp>
      <p:sp>
        <p:nvSpPr>
          <p:cNvPr id="39" name="Shape 26"/>
          <p:cNvSpPr/>
          <p:nvPr/>
        </p:nvSpPr>
        <p:spPr>
          <a:xfrm>
            <a:off x="6263640" y="54406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4341" y="5561381"/>
            <a:ext cx="307238" cy="307238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699516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Proteção de dados (LGPD) e integridade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2 · PROPOSTA DE INTERVENÇÃO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Cinco componentes, uma plataforma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3611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189829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Vitrine Marco Zero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246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Hub territorial do Ecossistema do MEC: catálogo de soluções gratuitas ou doadas, classificadas por área, tecnologia e público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98064" y="1554480"/>
            <a:ext cx="2103120" cy="3611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83864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98" y="189829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35224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Escolas-Laboratório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62656" y="3246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 escolas testam soluções em provas de conceito, com protocolo de evidência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47488" y="1554480"/>
            <a:ext cx="2103120" cy="3611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33288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222" y="189829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84648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Professores Conectados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212080" y="3246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Formação em cascata: 300 multiplicadores certificados, comunidade de prática e pesquisa com o Google Acadêmico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296912" y="1554480"/>
            <a:ext cx="2103120" cy="3611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82712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646" y="1898294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34072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Jovem Dev Equatorial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61504" y="3246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Trilha de matemática, pensamento computacional e IA no ensino médio, com bootcamps e certificação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546336" y="1554480"/>
            <a:ext cx="2103120" cy="3611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32136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3070" y="1898294"/>
            <a:ext cx="409651" cy="40965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83496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Aceleradora Marco Zero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710928" y="3246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Desafios de inovação aberta e pré-aceleração de EdTechs, BioTechs e GovTechs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31520" y="542239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1" y="5543093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463040" y="53492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Base comum: Observatório de dados abertos — painel público de aprendizagem, frequência, uso das plataformas, empregos e startups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2 · PROPOSTA DE INTERVENÇÃO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Começar pelo que já existe: camadas de maturidade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621792"/>
          </a:xfrm>
          <a:prstGeom prst="roundRect">
            <a:avLst>
              <a:gd name="adj" fmla="val 17647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Ferramentas complementares: IA, games, startups locais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682496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6824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2028+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5778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5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860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Gestão de informações: Observatório e painéis abertos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414016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24140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2027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6035040" cy="621792"/>
          </a:xfrm>
          <a:prstGeom prst="roundRect">
            <a:avLst>
              <a:gd name="adj" fmla="val 17647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1752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1752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Ferramentas de aula: Microsoft 365 A1 e Google Workspace (gratuitos)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3145536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3145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Já disponível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64922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74904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7490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Gestão escolar: soluções cedidas por outras redes via MEC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0" y="3877056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0" y="38770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2027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6949440" cy="621792"/>
          </a:xfrm>
          <a:prstGeom prst="roundRect">
            <a:avLst>
              <a:gd name="adj" fmla="val 17647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4805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48056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Equipamentos: doações e eficiência energética (PEE/Aneel)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4608576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6480" y="46085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2027–28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74066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21208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521208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Conectividade: Infovia 00 e escolas conectadas (EACE/Fust)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5340096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0" y="53400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Já disponível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12480" y="1554480"/>
            <a:ext cx="3200400" cy="4343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41080" y="1737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Por que não é "avançado demais"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641080" y="2514600"/>
            <a:ext cx="2788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As camadas 1 e 4 já estão disponíveis, sem custo para a rede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Cada escola entra no nível em que está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As camadas avançadas só chegam depois de validadas com evidência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Camadas adaptadas da "Visão Macro" do Ecossistema de Soluções Digitais para a Educação (MEC/STIC).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2 · TEORIA DA MUDANÇA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Lógica da intervenção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926080" cy="914400"/>
          </a:xfrm>
          <a:prstGeom prst="homePlate">
            <a:avLst/>
          </a:prstGeom>
          <a:solidFill>
            <a:srgbClr val="B947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Problema público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Baixa aprendizagem e poucas oportunidades produtivas para a juventude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926080" cy="914400"/>
          </a:xfrm>
          <a:prstGeom prst="chevron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Intervenção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697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Ecossistema territorial: vitrine, escolas-laboratório, formação, juventude e aceleração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926080" cy="914400"/>
          </a:xfrm>
          <a:prstGeom prst="chevron">
            <a:avLst/>
          </a:prstGeom>
          <a:solidFill>
            <a:srgbClr val="2F8F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Resultados esperados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97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Uso pedagógico da tecnologia, soluções validadas, jovens certificados, startups ativas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926080" cy="914400"/>
          </a:xfrm>
          <a:prstGeom prst="chevron">
            <a:avLst/>
          </a:prstGeom>
          <a:solidFill>
            <a:srgbClr val="0B3D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Mudança desejada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697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Mais aprendizagem, emprego qualificado e uma economia mais diversificada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Objetivo da política: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elevar a aprendizagem e a empregabilidade dos jovens amapaenses até 2030, conectando a escola à tecnologia e à economia do território.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Valor público gerado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4895698"/>
            <a:ext cx="358445" cy="35844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00200" y="4754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Aprendizagem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566160" y="4754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978" y="4895698"/>
            <a:ext cx="358445" cy="35844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343400" y="4754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Empregabilidade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309360" y="4754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4895698"/>
            <a:ext cx="358445" cy="35844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086600" y="4754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Densidade econômica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9052560" y="4754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3378" y="4895698"/>
            <a:ext cx="358445" cy="35844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829800" y="4754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Capacidade estatal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5440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Hipótese central: se a escola usa bem a tecnologia que já está disponível e se conecta aos problemas reais do território, então os jovens aprendem mais e o território passa a produzir inovação.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2 · TEORIA DA MUDANÇA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Mapa de processo e resultados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Contexto: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Ideb do ensino médio abaixo da meta · economia dependente do setor público · fibra óptica e acordos gratuitos já disponíveis, porém subutilizados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057400" cy="361188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Recursos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9152"/>
            <a:ext cx="1892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Acordos MEC–Microsoft e MEC–Google (gratuitos)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Infovia 00 e escolas conectadas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UNIFAP, IFAP, UEAP, Embrapa, IEPA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PD&amp;I obrigatório (Lei 8.387/1991)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Investimento social privado e PEE/Aneel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Professores e estudantes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15184" y="3429000"/>
            <a:ext cx="173736" cy="274320"/>
          </a:xfrm>
          <a:prstGeom prst="rightArrow">
            <a:avLst/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8064" y="1874520"/>
            <a:ext cx="2057400" cy="361188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07792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Atividades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2359152"/>
            <a:ext cx="1892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Pacto territorial e adesões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Curadoria da vitrine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Provas de conceito em escolas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Formação em cascata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Bootcamps e trilha de matemática + IA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Desafios e pré-aceleração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64608" y="3429000"/>
            <a:ext cx="173736" cy="274320"/>
          </a:xfrm>
          <a:prstGeom prst="rightArrow">
            <a:avLst/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7488" y="1874520"/>
            <a:ext cx="2057400" cy="361188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Produtos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38928" y="2359152"/>
            <a:ext cx="1892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Vitrine com 50+ soluções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20 escolas-laboratório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300 multiplicadores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1.000 jovens certificados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15 startups pré-aceleradas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Painel de dados aberto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14032" y="3429000"/>
            <a:ext cx="173736" cy="274320"/>
          </a:xfrm>
          <a:prstGeom prst="rightArrow">
            <a:avLst/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1874520"/>
            <a:ext cx="2057400" cy="361188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Resultados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88352" y="2359152"/>
            <a:ext cx="1892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Uso pedagógico semanal da tecnologia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Soluções validadas com evidência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Menos abandono nas escolas-piloto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Jovens em ocupações digitais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Startups com receita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63456" y="3429000"/>
            <a:ext cx="173736" cy="274320"/>
          </a:xfrm>
          <a:prstGeom prst="rightArrow">
            <a:avLst/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1874520"/>
            <a:ext cx="2057400" cy="361188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56064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Impactos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37776" y="2359152"/>
            <a:ext cx="1892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Ideb do EM rumo à meta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Menos jovens sem estudo nem trabalho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Economia mais diversificada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Capacidade estatal baseada em dados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Modelo replicável no Norte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Condições externas: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continuidade dos acordos federais · conectividade de última milha · estabilidade após as eleições de 2026 · adesão docente · segurança de dados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2 · MONITORAMENTO E AVALIAÇÃO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Como saber se funciona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51560"/>
                <a:gridCol w="1234440"/>
                <a:gridCol w="1234440"/>
                <a:gridCol w="1143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Meta 2027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Meta 2030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Fonte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Ideb EM do Amapá (rede total)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4,0 (2025)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4,2 (Ideb 2027)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4,6 (Ideb 2029)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Inep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Abandono no EM (escolas-laboratório)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2026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−20%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−40%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Censo Escolar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Docentes com uso pedagógico semanal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2026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50%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80%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Plataformas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Professores certificados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3.000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Parceiros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Jovens certificados (acumulado)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7.000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Parceiros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Certificados em ocupação digital em 6 meses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35%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RAIS/Caged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Startups pré-aceleradas / com receita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15 / 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80 / 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Aceleradora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554480"/>
            <a:ext cx="3108960" cy="411480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396" y="188823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325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Desenho de avaliação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732520" y="2971800"/>
            <a:ext cx="2697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Entrada em ondas por sorteio entre escolas elegíveis: quem ainda não entrou serve de comparação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Diferenças-em-diferenças sobre abandono e proficiência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Avaliação de processo semestral e painel público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852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Metas indicativas, a pactuar com a rede estadual e os municípios em 2027.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3 · RACIONAL ECONÔMICO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 falhas o programa corrige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8781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Falhas de mercado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Assimetria de informação sobre o que funciona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Externalidades do capital humano: ninguém forma sozinho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Falha de coordenação e de "autodescoberta" do território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Mercado pequeno e custo de transação alto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484632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4846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Resposta: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Vitrine com selo de evidência e escolas-laboratório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7373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187817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Falhas de governo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5603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Fragmentação e descontinuidade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Compras públicas pouco aptas a contratar inovação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Risco de captura por fornecedores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Baixa capacidade técnica municipal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480560" y="484632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17720" y="4846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Resposta: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Pacto multiator, acesso aberto e apoio técnico às redes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75320" y="17373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138" y="187817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5256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Problema de ação coletiva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25603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benefício é difuso e o custo é concentrado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ator espera que outro invista primeiro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Falta quem convoque e coordene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229600" y="484632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66760" y="4846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Resposta: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Organização-âncora, incentivos seletivos e regras de reciprocidade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3 · RACIONAL ECONÔMICO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Desenho de mecanismos: plataforma de dois lados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48840" cy="228600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806" y="189829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560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Demanda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80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Redes, escolas, professores e municípios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17520" y="1600200"/>
            <a:ext cx="237744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414" y="189829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0896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Vitrine Marco Zero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15468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Curadoria, provas de conceito e selo de evidência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715000" y="1600200"/>
            <a:ext cx="2148840" cy="228600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28232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166" y="189829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06440" y="2560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Oferta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852160" y="2880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Microsoft, Google e outras big techs, startups e universidades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697480" y="2606040"/>
            <a:ext cx="320040" cy="274320"/>
          </a:xfrm>
          <a:prstGeom prst="leftRightArrow">
            <a:avLst/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94960" y="2606040"/>
            <a:ext cx="320040" cy="274320"/>
          </a:xfrm>
          <a:prstGeom prst="leftRightArrow">
            <a:avLst/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Regras do jogo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4434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Entrada aberta por credenciamento permanente, sem exclusividade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Gratuidade na fase de teste; quem comprova resultado ganha selo e visibilidade nacional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Contrapartidas não monetárias: dados anonimizados para pesquisa, vitrine ESG e acesso a talentos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Cláusulas contra a dependência de fornecedor: interoperabilidade, portabilidade e padrões abertos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183880" y="1600200"/>
            <a:ext cx="3429000" cy="44348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12480" y="1737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Fontes de financiamento sem orçamento novo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8412480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778240" y="2514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Licenças e créditos de nuvem doados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8778240" y="3063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PD&amp;I obrigatório da Lei 8.387/1991, via instituições do AP credenciadas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841248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8778240" y="3611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Programa de Eficiência Energética (Aneel)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8412480" y="4160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8778240" y="4160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Investimento social privado e ESG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8412480" y="4709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8778240" y="4709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Fundo patrimonial (Lei 13.800/2019)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8412480" y="5257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8778240" y="5257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Prêmios dos desafios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3 · RACIONAL ECONÔMICO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As questões federativas: quem faz o quê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Ator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Papel no programa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Instrumento (já existente)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União (MEC, MCTI, MCom)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Ecossistema nacional, acordos com big techs, conectividade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PNRA (Dec. 11.079/2022); PNED (Lei 14.533/2023)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Estado do Amapá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Ensino médio, escolas-laboratório, hub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Termo de adesão simplificado; protocolo de intenções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16 municípios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Anos finais do fundamental, desafios locais, vocações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Arranjo de Desenvolvimento da Educação; consórcio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Universidades e institutos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Formação, avaliação, PD&amp;I e incubação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Lei de Inovação (10.973/2004); Lei 8.387/1991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Empresas e terceiro setor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Tecnologia, mentoria, capital e empregos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Acordo de cooperação não oneroso; MROSC; LC 182/2021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4"/>
                          </a:solidFill>
                        </a:rPr>
                        <a:t>Controle (TCE-AP, TCU, CGU)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Orientação, avaliação e transparência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4"/>
                          </a:solidFill>
                        </a:rPr>
                        <a:t>Auditoria operacional; LINDB, arts. 22 e 28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54406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556138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492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Adesão voluntária e regime de colaboração (CF, art. 211). Incentivos que já premiam resultado — ICMS Educacional (EC 108/2020) e VAAR-Fundeb — reforçam a adesão dos municípios.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4 · GOVERNANÇA COLABORATIVA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Arquitetura leve, policêntrica e de acesso aberto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91640" y="2468880"/>
            <a:ext cx="1920240" cy="1554480"/>
          </a:xfrm>
          <a:prstGeom prst="line">
            <a:avLst/>
          </a:prstGeom>
          <a:noFill/>
          <a:ln w="19050">
            <a:solidFill>
              <a:srgbClr val="9CC9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611880" y="2468880"/>
            <a:ext cx="1920240" cy="1554480"/>
          </a:xfrm>
          <a:prstGeom prst="line">
            <a:avLst/>
          </a:prstGeom>
          <a:noFill/>
          <a:ln w="19050">
            <a:solidFill>
              <a:srgbClr val="9CC9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691640" y="4023360"/>
            <a:ext cx="1920240" cy="1554480"/>
          </a:xfrm>
          <a:prstGeom prst="line">
            <a:avLst/>
          </a:prstGeom>
          <a:noFill/>
          <a:ln w="19050">
            <a:solidFill>
              <a:srgbClr val="9CC9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4023360"/>
            <a:ext cx="1920240" cy="1554480"/>
          </a:xfrm>
          <a:prstGeom prst="line">
            <a:avLst/>
          </a:prstGeom>
          <a:noFill/>
          <a:ln w="19050">
            <a:solidFill>
              <a:srgbClr val="9CC9B8"/>
            </a:solidFill>
            <a:prstDash val="solid"/>
          </a:ln>
        </p:spPr>
      </p:sp>
      <p:sp>
        <p:nvSpPr>
          <p:cNvPr id="8" name="conselho"/>
          <p:cNvSpPr/>
          <p:nvPr/>
        </p:nvSpPr>
        <p:spPr>
          <a:xfrm>
            <a:off x="2331720" y="32918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3383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Conselho do Pacto Marco Zero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041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Estado, municípios, ICTs, empresas, estudantes e professores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084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Secretaria-âncora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4505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NIT/fundação da UNIFAP — sem órgão novo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01168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2084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Comitê de validação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4505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Professores, universidade e CIEB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193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Rede de escolas-laboratório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59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Comunidade de prática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512064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5193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Hubs territoriais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559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Macapá, Oiapoque e Laranjal do Jari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Observadores: MEC (STIC/SEB), TCE-AP e convidados da Guiana Francesa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1554480"/>
            <a:ext cx="466344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8858" y="1878178"/>
            <a:ext cx="358445" cy="35844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955280" y="17373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Como gerar uma ordem de acesso aberto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178040" y="25603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Qualquer organização entra por credenciamento permanente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Critérios, avaliações e resultados publicados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Proibição de exclusividade e de reserva de mercado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Padrões abertos e recursos educacionais abertos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Rodízio de assentos no Conselho e mandatos curtos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5 · VOCAÇÕES TERRITORIAIS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Inovação a serviço do que o território já sabe fazer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22402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19072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8498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1907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Bioeconomia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Açaí, castanha, óleos e pesca: rastreabilidade, BioTech e crédito de carbono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98064" y="1554480"/>
            <a:ext cx="2103120" cy="22402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80944" y="1719072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703" y="18498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6744" y="171907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Energia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980944" y="24231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Hidrelétricas e Margem Equatorial: mão de obra técnica e investimento ESG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47488" y="1554480"/>
            <a:ext cx="2103120" cy="22402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30368" y="1719072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127" y="18498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16168" y="171907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Fronteira com a UE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230368" y="24231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Guiana Francesa e Porto de Santana: serviços bilíngues e logística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296912" y="1554480"/>
            <a:ext cx="2103120" cy="22402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79792" y="1719072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551" y="184983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165592" y="171907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Economia criativa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24231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Marco Zero, Fortaleza de São José e Marabaixo: conteúdo e turismo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546336" y="1554480"/>
            <a:ext cx="2103120" cy="22402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729216" y="1719072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184983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415016" y="171907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Serviços digitais remotos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9729216" y="24231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Empregos que não dependem de logística física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39776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Maximizar vocações: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Mapa participativo de vocações por município, a partir dos estudos de potencialidades do Sebrae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126480" y="39776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Políticas multinível: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Desafios municipais ligados à vocação; linhas de PD&amp;I priorizadas por vocação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47091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Transferências: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ICMS Educacional e VAAR premiam resultado; o investimento privado segue as vocações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6126480" y="47091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Sustentabilidade: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Fundo patrimonial, energia solar nas escolas e startups que geram receita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4406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Aproximação: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Equipe de transição do governo eleito, associação de municípios e kit municipal com termo simplificado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6126480" y="54406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Controle: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TCE-AP acompanha de forma orientadora e usa o painel aberto para avaliar resultados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5 · VOCAÇÕES TERRITORIAIS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Visão de futuro: rumo ao Vale do Marco Zero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777240"/>
          </a:xfrm>
          <a:prstGeom prst="homePlate">
            <a:avLst/>
          </a:prstGeom>
          <a:solidFill>
            <a:srgbClr val="9CC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2027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Semente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 escolas-laboratório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1.000 jovens certificados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 startups pré-aceleradas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Hub em Macapá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54680" y="1600200"/>
            <a:ext cx="2697480" cy="777240"/>
          </a:xfrm>
          <a:prstGeom prst="chevron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0332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2028–2030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Crescimento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6032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16 municípios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2.000 jovens/ano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Rede de investidores-anjo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Roraima como 2ª onda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1600200"/>
            <a:ext cx="2697480" cy="777240"/>
          </a:xfrm>
          <a:prstGeom prst="chevron">
            <a:avLst/>
          </a:prstGeom>
          <a:solidFill>
            <a:srgbClr val="0B3D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2031–2035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Vale do Marco Zero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56032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Polo de bioeconomia digital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Serviços bilíngues para a UE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150+ empresas de base tecnológica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Modelo replicado no Norte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1600200"/>
            <a:ext cx="3108960" cy="443484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Cenário ilustrativo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194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≈ R$ 18 mi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29260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por ano em nova massa salarial, para cada turma de 2.000 jovens certificados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40233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Premissas: 25% inseridos em ocupações digitais × R$ 3.000/mês × 12 meses. Cada nova turma soma ao estoque.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7680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937760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Como o mercado local se desenvolve: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renda nova que circula no comércio local, startups que vendem para governos e empresas da região, exportação de serviços digitais e atração de empresas para a Área de Livre Comércio.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IMPLEMENTAÇÃO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Roteiro de implantação em 2027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9CC9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30552"/>
            <a:ext cx="402336" cy="402336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Nov–Dez/2026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148840" cy="233172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529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Transição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Pré-pacto com o governo eleito, a universidade e as empresas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66744" y="2130552"/>
            <a:ext cx="402336" cy="402336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8064" y="1600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Jan–Mar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98064" y="2743200"/>
            <a:ext cx="2148840" cy="233172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35224" y="28529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Pacto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32918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Assinatura, adesões dos municípios e secretaria-âncora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6168" y="2130552"/>
            <a:ext cx="402336" cy="402336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47488" y="1600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Abr–Jun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47488" y="2743200"/>
            <a:ext cx="2148840" cy="233172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84648" y="28529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Ativação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84648" y="32918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Contas na nuvem, 300 multiplicadores, sorteio das escolas e 1º desafio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65592" y="2130552"/>
            <a:ext cx="402336" cy="402336"/>
          </a:xfrm>
          <a:prstGeom prst="ellipse">
            <a:avLst/>
          </a:prstGeom>
          <a:solidFill>
            <a:srgbClr val="E3A00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6912" y="1600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Jul–Set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96912" y="2743200"/>
            <a:ext cx="2148840" cy="233172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34072" y="28529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Aceleração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34072" y="32918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Provas de conceito, bootcamps e Demo Day do Equinócio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415016" y="2130552"/>
            <a:ext cx="402336" cy="402336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46336" y="1600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Out–Dez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546336" y="2743200"/>
            <a:ext cx="2148840" cy="233172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83496" y="28529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Avaliação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683496" y="32918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Relatório público e plano de expansão para os 16 municípios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542239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5543093"/>
            <a:ext cx="307238" cy="30723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463040" y="53492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Demo Day do Equinócio (setembro): no dia em que o sol se alinha ao Marco Zero, startups e escolas apresentam seus resultados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IMPLEMENTAÇÃO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Riscos e como mitigá-los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0195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2042770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37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Dependência de big techs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488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Vários fornecedores, padrões abertos, portabilidade de dados e recursos abertos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90195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898" y="2042770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737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Dados de estudantes (LGPD)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1488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Relatório de impacto, minimização e vedação de uso comercial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36499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3505810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200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Conectividade de última milha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6118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Infovia 00, EACE/Fust e soluções que funcionam offline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306324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5080" y="336499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98" y="3505810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3200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Resistência docente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36118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Formação entre pares, carga horária reconhecida e prêmios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5262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482803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4968850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46634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Descontinuidade política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50749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Pacto multiator, fontes privadas e resultados visíveis já em 2027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172200" y="45262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55080" y="482803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898" y="4968850"/>
            <a:ext cx="358445" cy="35844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78040" y="46634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Captura e conflito de interesses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178040" y="50749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Acesso aberto, critérios públicos e controle como observador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PERGUNTA ORIENTADORA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Gestão bottom-up e o papel do controle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Kit Municipal Marco Zero — replicável em qualquer município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871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Aderir aos acordos gratuitos do MEC com termo simplificado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729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Associar-se a vizinhos em um arranjo de educação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587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Indicar uma escola-laboratório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5445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Propor um desafio por ano ligado à vocação local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2303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Publicar os dados no painel aberto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Como o controle contribui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0" y="2377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1442" y="2488082"/>
            <a:ext cx="281635" cy="28163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086600" y="23774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 preventivo e orientador, desde o desenho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0" y="30906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3201314"/>
            <a:ext cx="281635" cy="28163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086600" y="309067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Avaliação de governança e auditoria operacional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400800" y="380390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3914546"/>
            <a:ext cx="281635" cy="281635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086600" y="380390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Dados abertos que viabilizam o controle social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400800" y="451713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2" y="4627778"/>
            <a:ext cx="281635" cy="28163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086600" y="45171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Segurança jurídica para inovar (LINDB, arts. 22 e 28)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6400800" y="52303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442" y="5341010"/>
            <a:ext cx="281635" cy="28163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086600" y="52303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Reconhecimento e difusão de boas práticas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SÍNTESE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Por que é um bom Produto Técnico-Tecnológico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8068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Inovação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03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Ecossistema territorial de duas faces, com acesso aberto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14" y="1806854"/>
            <a:ext cx="409651" cy="4096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1208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Aplicabilidade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2103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Só usa instrumentos jurídicos que já existem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4672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654" y="1806854"/>
            <a:ext cx="409651" cy="4096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6112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Impacto social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961120" y="2103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Aprendizagem, emprego e inclusão de povos tradicionais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3611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3772814"/>
            <a:ext cx="409651" cy="40965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3611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Custo-benefício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Sem orçamento novo; cerca de R$ 500 por beneficiário/ano, de fontes privadas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297680" y="3611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614" y="3772814"/>
            <a:ext cx="409651" cy="40965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12080" y="3611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Replicabilidade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21208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Kit municipal e 2ª onda em Roraima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046720" y="3611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654" y="3772814"/>
            <a:ext cx="409651" cy="40965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961120" y="3611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Utilidade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896112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Responde ao PNRA, à PNED e ao novo PNE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Do Marco Zero do Equador ao marco zero de um novo modelo de desenvolvimento territorial.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9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REFERÊNCIAS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Principais referências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40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ANSELL, C.; GASH, A. Collaborative governance in theory and practice. JPART, 2008.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ARRETCHE, M. Democracia, federalismo e centralização no Brasil. FGV/Fiocruz, 2012.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BRASIL. Decreto nº 11.079/2022 (PNRA); Lei nº 14.533/2023 (PNED); Lei nº 15.388/2026 (PNE).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ELMORE, R. Backward mapping. Political Science Quarterly, 1979.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ETZKOWITZ, H.; LEYDESDORFF, L. The dynamics of innovation. Research Policy, 2000.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HAUSMANN, R.; RODRIK, D. Economic development as self-discovery. JDE, 2003.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INEP. Ideb 2025: resultados. Brasília, 2026.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KANIA, J.; KRAMER, M. Collective impact. SSIR, 2011.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554480"/>
            <a:ext cx="5440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MAZZUCATO, M. O Estado empreendedor. Portfolio-Penguin, 2014.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NORTH, D.; WALLIS, J.; WEINGAST, B. Violence and social orders. Cambridge UP, 2009.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OLSON, M. The logic of collective action. Harvard UP, 1965.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OSTROM, E. Governing the commons. Cambridge UP, 1990.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ROCHET, J.-C.; TIROLE, J. Platform competition in two-sided markets. JEEA, 2003.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SAXENIAN, A. Regional advantage. Harvard UP, 1994.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TCU. Referencial de controle de políticas públicas. Brasília, 2020.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WEISS, C. Nothing as practical as good theory. Aspen Institute, 1995.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le do Marco Zero">
  <a:themeElements>
    <a:clrScheme name="Vale do Marco Zero">
      <a:dk1>
        <a:srgbClr val="1B2A24"/>
      </a:dk1>
      <a:lt1>
        <a:srgbClr val="FFFFFF"/>
      </a:lt1>
      <a:dk2>
        <a:srgbClr val="0B3D2E"/>
      </a:dk2>
      <a:lt2>
        <a:srgbClr val="EDF4F0"/>
      </a:lt2>
      <a:accent1>
        <a:srgbClr val="0E7C7B"/>
      </a:accent1>
      <a:accent2>
        <a:srgbClr val="E3A008"/>
      </a:accent2>
      <a:accent3>
        <a:srgbClr val="2F8F46"/>
      </a:accent3>
      <a:accent4>
        <a:srgbClr val="B9472F"/>
      </a:accent4>
      <a:accent5>
        <a:srgbClr val="5B6C66"/>
      </a:accent5>
      <a:accent6>
        <a:srgbClr val="9CC9B8"/>
      </a:accent6>
      <a:hlink>
        <a:srgbClr val="0E7C7B"/>
      </a:hlink>
      <a:folHlink>
        <a:srgbClr val="5B6C66"/>
      </a:folHlink>
    </a:clrScheme>
    <a:fontScheme name="Vale do Marco Zer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Vale do Marco Zero</dc:title>
  <dc:subject>Ecossistema Territorial de Inovação Educacional e Digital do Amapá</dc:subject>
  <dc:creator>Mestrado - Controle Governamental</dc:creator>
  <cp:lastModifiedBy>Mestrado - Controle Governamental</cp:lastModifiedBy>
  <cp:revision>1</cp:revision>
  <dcterms:created xsi:type="dcterms:W3CDTF">2026-10-25T01:58:47Z</dcterms:created>
  <dcterms:modified xsi:type="dcterms:W3CDTF">2026-10-25T01:58:47Z</dcterms:modified>
</cp:coreProperties>
</file>