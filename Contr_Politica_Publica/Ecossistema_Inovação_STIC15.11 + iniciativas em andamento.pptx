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4" r:id="rId5"/>
    <p:sldId id="266" r:id="rId6"/>
    <p:sldId id="258" r:id="rId7"/>
    <p:sldId id="260" r:id="rId8"/>
    <p:sldId id="263" r:id="rId9"/>
    <p:sldId id="259" r:id="rId10"/>
    <p:sldId id="262" r:id="rId11"/>
    <p:sldId id="261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C494"/>
    <a:srgbClr val="368227"/>
    <a:srgbClr val="FFC715"/>
    <a:srgbClr val="EAB200"/>
    <a:srgbClr val="414141"/>
    <a:srgbClr val="BC8C00"/>
    <a:srgbClr val="FFCD2F"/>
    <a:srgbClr val="FFD345"/>
    <a:srgbClr val="155BCB"/>
    <a:srgbClr val="4599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612" y="10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BCDC6-5F4C-424D-8BF3-8D35AFD3C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0F4863-4EEA-43FF-A826-4CAEC84FB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0C060B-DEC0-47A8-AFD4-56FE2B36F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274-EDA0-46E2-923F-BBB1BF79324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3A3854-1BB7-4EC2-835A-F80F69206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97CF5F-6E20-47E1-90CD-A7BB37092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DA71-60F1-4141-83A5-C7EDB5C166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5180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BBEAB-F396-4BF3-A08A-CF6DACC0A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541695-27BD-4CE5-8793-10BD10D5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61785D-985F-41D6-A090-3887340E7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274-EDA0-46E2-923F-BBB1BF79324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6CC90E-C7F7-4942-97B9-5BD9D1D71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6A099D-9489-4DA5-952C-775B83762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DA71-60F1-4141-83A5-C7EDB5C166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440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6CEC3-03B5-45D4-AA79-961FE31B4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14FA1B-8E48-4138-9775-B47E81A72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37F6E0-7395-4A46-9BB1-8E9F4F17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274-EDA0-46E2-923F-BBB1BF79324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92E89D-3946-479E-86B1-3755369BE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9602DD-3BEB-4AE9-B2F7-DD5F7B33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DA71-60F1-4141-83A5-C7EDB5C166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4560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DCC498-577D-4F7E-AAE0-311E93EBF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E1C39D-E6F9-4E27-BEC8-BEDCABA485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8577B1F-194D-4193-839B-D4AF8B63D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8742C4-DB16-439E-93E4-2D6636C9A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274-EDA0-46E2-923F-BBB1BF79324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195D37-36B6-4FAB-9579-27CA3C771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84CEFB-0BF1-4A99-9E29-AB4E2F0BE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DA71-60F1-4141-83A5-C7EDB5C166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6091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B72B8-68D0-462D-919B-6364A142A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318136-2661-4BC6-AB90-B6DEEBEF0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1B0A54-44F7-4F60-92E3-64CCAD74C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8B033DE-9C1D-4615-A6D4-694A17B0A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712EB6-9A24-4C76-84BD-AB919FA8C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0AECBD1-CB95-4C4C-9508-C4A309A6A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274-EDA0-46E2-923F-BBB1BF79324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5BF608C-340D-44A0-89E7-24B851C0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F9EAD2D-DA19-486E-B66E-0DB2284AB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DA71-60F1-4141-83A5-C7EDB5C166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379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3F703-FF86-4B4D-BE8B-4539C7630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43B2078-29EA-4F8D-929E-DBDB793F2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274-EDA0-46E2-923F-BBB1BF79324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AF9B40-B1A5-4258-98CF-4E198742A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7F4B0E5-5B51-4A16-BD4E-1AB95C761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DA71-60F1-4141-83A5-C7EDB5C166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6382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7B62A3C-8FBD-4CBC-86EF-690B30F9C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274-EDA0-46E2-923F-BBB1BF79324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3DB9B1D-9AEF-4DAC-BA1B-9F64B0EA6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8573AF-ABCF-4BD9-98C5-37973ED53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DA71-60F1-4141-83A5-C7EDB5C166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1563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16637-B387-4614-852A-6823516DD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37EA09-ADAF-42AD-A673-3C51681D1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D2757E0-0DDD-4D71-ABA5-EE4205350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640910-751D-466F-962A-E7783A162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274-EDA0-46E2-923F-BBB1BF79324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D2E7E5-B376-4736-B2C2-85E12DF84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2FDC1D-4B06-4E7D-9FE1-478BA4A1D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DA71-60F1-4141-83A5-C7EDB5C166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8050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4EC71-4749-4B79-891D-354843FC8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FA5A068-BC9C-4501-B35F-3D7E661DE0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2AD9EC-4000-4C46-B0DF-CF4C0A76B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7F42B1-8860-4B81-8DD1-D87DD6BBB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274-EDA0-46E2-923F-BBB1BF79324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924C3D-2A26-49EC-B571-18FC8A4FC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1FFEA15-F0D9-42B5-9C58-075EDDD2C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DA71-60F1-4141-83A5-C7EDB5C166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761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CEC1F-EFA6-4C35-AF68-8915FCD46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D847A67-3DF2-4799-BBFB-683137067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2DF735-FEE8-448F-A5F5-3F7E85F3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274-EDA0-46E2-923F-BBB1BF79324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EA4CBA-A733-4E32-A396-0F0950908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329B83-9FED-4B62-97D9-0D8132F9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DA71-60F1-4141-83A5-C7EDB5C166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796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C131D8-4193-494C-A822-4CD0A1D980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9C5909C-03B7-427A-AFC7-7736A68CF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94CE35-A274-448B-8946-A2618B173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274-EDA0-46E2-923F-BBB1BF79324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E2394F-FC6F-42F4-8E74-1176024DE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3AA00F-6820-41E4-A610-040AAB077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DA71-60F1-4141-83A5-C7EDB5C166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413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8FD481F-B883-4531-9365-29B97FBD2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944175-F113-4CFF-8AD1-1E45D6C3F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54249B-41E2-4FB1-A0EA-32C715DE5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A274-EDA0-46E2-923F-BBB1BF79324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E008AE-C15E-4A50-89DE-64CEE24F1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24C387-5746-4C90-AF8A-9856EBA9A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BDA71-60F1-4141-83A5-C7EDB5C166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6645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 descr="Forma, Padrão do plano de fundo&#10;&#10;Descrição gerada automaticamente">
            <a:extLst>
              <a:ext uri="{FF2B5EF4-FFF2-40B4-BE49-F238E27FC236}">
                <a16:creationId xmlns:a16="http://schemas.microsoft.com/office/drawing/2014/main" id="{0EA4CB43-1178-4346-BAD4-D62116E8939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60286" cy="685800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06EFD35-7A6A-4119-8B59-1855623B1CF2}"/>
              </a:ext>
            </a:extLst>
          </p:cNvPr>
          <p:cNvCxnSpPr/>
          <p:nvPr/>
        </p:nvCxnSpPr>
        <p:spPr>
          <a:xfrm>
            <a:off x="-8709" y="6566263"/>
            <a:ext cx="9344297" cy="0"/>
          </a:xfrm>
          <a:prstGeom prst="line">
            <a:avLst/>
          </a:prstGeom>
          <a:ln w="28575">
            <a:solidFill>
              <a:srgbClr val="16882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7" name="Imagem 6" descr="Ícone&#10;&#10;Descrição gerada automaticamente">
            <a:extLst>
              <a:ext uri="{FF2B5EF4-FFF2-40B4-BE49-F238E27FC236}">
                <a16:creationId xmlns:a16="http://schemas.microsoft.com/office/drawing/2014/main" id="{AC4AD30A-8979-414C-BF7B-A833CE120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233" y="6169828"/>
            <a:ext cx="2780860" cy="535573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AB2E8F3E-5FFD-4F0C-B907-C83567AE701C}"/>
              </a:ext>
            </a:extLst>
          </p:cNvPr>
          <p:cNvGrpSpPr/>
          <p:nvPr/>
        </p:nvGrpSpPr>
        <p:grpSpPr>
          <a:xfrm>
            <a:off x="0" y="-2084"/>
            <a:ext cx="12192000" cy="158644"/>
            <a:chOff x="0" y="-2084"/>
            <a:chExt cx="12192000" cy="158644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9C8717AD-664E-40A2-8948-8770DADBBDCD}"/>
                </a:ext>
              </a:extLst>
            </p:cNvPr>
            <p:cNvSpPr/>
            <p:nvPr/>
          </p:nvSpPr>
          <p:spPr>
            <a:xfrm>
              <a:off x="0" y="-2084"/>
              <a:ext cx="4040778" cy="155949"/>
            </a:xfrm>
            <a:prstGeom prst="rect">
              <a:avLst/>
            </a:prstGeom>
            <a:solidFill>
              <a:srgbClr val="1688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47498199-2A55-409B-BF74-542765A54941}"/>
                </a:ext>
              </a:extLst>
            </p:cNvPr>
            <p:cNvSpPr/>
            <p:nvPr/>
          </p:nvSpPr>
          <p:spPr>
            <a:xfrm>
              <a:off x="4040777" y="-2084"/>
              <a:ext cx="4040777" cy="155957"/>
            </a:xfrm>
            <a:prstGeom prst="rect">
              <a:avLst/>
            </a:prstGeom>
            <a:solidFill>
              <a:srgbClr val="FFCD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1A1D0D5D-1666-440E-9654-3B242B9EE6B2}"/>
                </a:ext>
              </a:extLst>
            </p:cNvPr>
            <p:cNvSpPr/>
            <p:nvPr/>
          </p:nvSpPr>
          <p:spPr>
            <a:xfrm>
              <a:off x="8081554" y="-2084"/>
              <a:ext cx="4110446" cy="158644"/>
            </a:xfrm>
            <a:prstGeom prst="rect">
              <a:avLst/>
            </a:prstGeom>
            <a:solidFill>
              <a:srgbClr val="155B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D0FADB7-E4D3-4E82-A3C3-47F5B599EB33}"/>
              </a:ext>
            </a:extLst>
          </p:cNvPr>
          <p:cNvSpPr txBox="1"/>
          <p:nvPr/>
        </p:nvSpPr>
        <p:spPr>
          <a:xfrm>
            <a:off x="3325640" y="2638893"/>
            <a:ext cx="88601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800" b="1" dirty="0">
                <a:solidFill>
                  <a:srgbClr val="168821"/>
                </a:solidFill>
                <a:latin typeface="Century Gothic" panose="020B0502020202020204" pitchFamily="34" charset="0"/>
                <a:cs typeface="Aharoni" panose="020B0604020202020204" pitchFamily="2" charset="-79"/>
              </a:rPr>
              <a:t>ECOSSISTEMA DE INOVAÇÃO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D800E4E-5D91-48A1-B776-435BF528F194}"/>
              </a:ext>
            </a:extLst>
          </p:cNvPr>
          <p:cNvSpPr txBox="1"/>
          <p:nvPr/>
        </p:nvSpPr>
        <p:spPr>
          <a:xfrm>
            <a:off x="3074126" y="3470379"/>
            <a:ext cx="9111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600" dirty="0">
                <a:solidFill>
                  <a:srgbClr val="155BCB"/>
                </a:solidFill>
                <a:latin typeface="Century Gothic" panose="020B0502020202020204" pitchFamily="34" charset="0"/>
                <a:cs typeface="Segoe UI Semibold" panose="020B0702040204020203" pitchFamily="34" charset="0"/>
              </a:rPr>
              <a:t>E SOLUÇÕES DIGITAIS PARA EDUCAÇÃO</a:t>
            </a:r>
          </a:p>
        </p:txBody>
      </p:sp>
      <p:pic>
        <p:nvPicPr>
          <p:cNvPr id="15" name="Gráfico 14" descr="Peças de quebra-cabeça com preenchimento sólido">
            <a:extLst>
              <a:ext uri="{FF2B5EF4-FFF2-40B4-BE49-F238E27FC236}">
                <a16:creationId xmlns:a16="http://schemas.microsoft.com/office/drawing/2014/main" id="{63F957A5-FDBA-41D5-9EFC-8DCDF1DE0A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85926" y="870650"/>
            <a:ext cx="1882944" cy="188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50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 descr="Forma, Padrão do plano de fundo&#10;&#10;Descrição gerada automaticamente">
            <a:extLst>
              <a:ext uri="{FF2B5EF4-FFF2-40B4-BE49-F238E27FC236}">
                <a16:creationId xmlns:a16="http://schemas.microsoft.com/office/drawing/2014/main" id="{0EA4CB43-1178-4346-BAD4-D62116E8939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60286" cy="685800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06EFD35-7A6A-4119-8B59-1855623B1CF2}"/>
              </a:ext>
            </a:extLst>
          </p:cNvPr>
          <p:cNvCxnSpPr/>
          <p:nvPr/>
        </p:nvCxnSpPr>
        <p:spPr>
          <a:xfrm>
            <a:off x="-8709" y="6566263"/>
            <a:ext cx="9344297" cy="0"/>
          </a:xfrm>
          <a:prstGeom prst="line">
            <a:avLst/>
          </a:prstGeom>
          <a:ln w="28575">
            <a:solidFill>
              <a:srgbClr val="16882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7" name="Imagem 6" descr="Ícone&#10;&#10;Descrição gerada automaticamente">
            <a:extLst>
              <a:ext uri="{FF2B5EF4-FFF2-40B4-BE49-F238E27FC236}">
                <a16:creationId xmlns:a16="http://schemas.microsoft.com/office/drawing/2014/main" id="{AC4AD30A-8979-414C-BF7B-A833CE120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233" y="6169828"/>
            <a:ext cx="2780860" cy="535573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AB2E8F3E-5FFD-4F0C-B907-C83567AE701C}"/>
              </a:ext>
            </a:extLst>
          </p:cNvPr>
          <p:cNvGrpSpPr/>
          <p:nvPr/>
        </p:nvGrpSpPr>
        <p:grpSpPr>
          <a:xfrm>
            <a:off x="0" y="-2084"/>
            <a:ext cx="12192000" cy="158644"/>
            <a:chOff x="0" y="-2084"/>
            <a:chExt cx="12192000" cy="158644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9C8717AD-664E-40A2-8948-8770DADBBDCD}"/>
                </a:ext>
              </a:extLst>
            </p:cNvPr>
            <p:cNvSpPr/>
            <p:nvPr/>
          </p:nvSpPr>
          <p:spPr>
            <a:xfrm>
              <a:off x="0" y="-2084"/>
              <a:ext cx="4040778" cy="155949"/>
            </a:xfrm>
            <a:prstGeom prst="rect">
              <a:avLst/>
            </a:prstGeom>
            <a:solidFill>
              <a:srgbClr val="1688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47498199-2A55-409B-BF74-542765A54941}"/>
                </a:ext>
              </a:extLst>
            </p:cNvPr>
            <p:cNvSpPr/>
            <p:nvPr/>
          </p:nvSpPr>
          <p:spPr>
            <a:xfrm>
              <a:off x="4040777" y="-2084"/>
              <a:ext cx="4040777" cy="155957"/>
            </a:xfrm>
            <a:prstGeom prst="rect">
              <a:avLst/>
            </a:prstGeom>
            <a:solidFill>
              <a:srgbClr val="FFCD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1A1D0D5D-1666-440E-9654-3B242B9EE6B2}"/>
                </a:ext>
              </a:extLst>
            </p:cNvPr>
            <p:cNvSpPr/>
            <p:nvPr/>
          </p:nvSpPr>
          <p:spPr>
            <a:xfrm>
              <a:off x="8081554" y="-2084"/>
              <a:ext cx="4110446" cy="158644"/>
            </a:xfrm>
            <a:prstGeom prst="rect">
              <a:avLst/>
            </a:prstGeom>
            <a:solidFill>
              <a:srgbClr val="155B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233443F-266C-47F5-90C2-DCDB36CBB6DC}"/>
              </a:ext>
            </a:extLst>
          </p:cNvPr>
          <p:cNvSpPr txBox="1"/>
          <p:nvPr/>
        </p:nvSpPr>
        <p:spPr>
          <a:xfrm>
            <a:off x="176505" y="291736"/>
            <a:ext cx="5799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68821"/>
                </a:solidFill>
                <a:latin typeface="Century Gothic" panose="020B0502020202020204" pitchFamily="34" charset="0"/>
                <a:cs typeface="Segoe UI Semibold" panose="020B0702040204020203" pitchFamily="34" charset="0"/>
              </a:rPr>
              <a:t>MEC | Ecossistema Educacional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4087C2C9-6734-4CE9-8C4B-AE4E455F4B4E}"/>
              </a:ext>
            </a:extLst>
          </p:cNvPr>
          <p:cNvGrpSpPr/>
          <p:nvPr/>
        </p:nvGrpSpPr>
        <p:grpSpPr>
          <a:xfrm>
            <a:off x="0" y="891264"/>
            <a:ext cx="12192000" cy="155957"/>
            <a:chOff x="0" y="-2084"/>
            <a:chExt cx="12192000" cy="155957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A131C52C-F1B2-43B8-9C23-9E245A1055BF}"/>
                </a:ext>
              </a:extLst>
            </p:cNvPr>
            <p:cNvSpPr/>
            <p:nvPr/>
          </p:nvSpPr>
          <p:spPr>
            <a:xfrm>
              <a:off x="0" y="-2084"/>
              <a:ext cx="4040778" cy="155949"/>
            </a:xfrm>
            <a:prstGeom prst="rect">
              <a:avLst/>
            </a:prstGeom>
            <a:solidFill>
              <a:srgbClr val="168821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2061B503-42E5-4106-959C-4517C7F4669F}"/>
                </a:ext>
              </a:extLst>
            </p:cNvPr>
            <p:cNvSpPr/>
            <p:nvPr/>
          </p:nvSpPr>
          <p:spPr>
            <a:xfrm>
              <a:off x="4040777" y="-2084"/>
              <a:ext cx="4040777" cy="155957"/>
            </a:xfrm>
            <a:prstGeom prst="rect">
              <a:avLst/>
            </a:prstGeom>
            <a:solidFill>
              <a:srgbClr val="FFCD07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BD5A3ED-1B2A-4B66-ACD7-6BA6ACD35BFC}"/>
                </a:ext>
              </a:extLst>
            </p:cNvPr>
            <p:cNvSpPr/>
            <p:nvPr/>
          </p:nvSpPr>
          <p:spPr>
            <a:xfrm>
              <a:off x="8081554" y="-2084"/>
              <a:ext cx="4110446" cy="155948"/>
            </a:xfrm>
            <a:prstGeom prst="rect">
              <a:avLst/>
            </a:prstGeom>
            <a:solidFill>
              <a:srgbClr val="155BCB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FE41B42C-28B4-487E-B80B-2DE9D0EF6923}"/>
              </a:ext>
            </a:extLst>
          </p:cNvPr>
          <p:cNvGrpSpPr/>
          <p:nvPr/>
        </p:nvGrpSpPr>
        <p:grpSpPr>
          <a:xfrm>
            <a:off x="401823" y="1246216"/>
            <a:ext cx="10767860" cy="950411"/>
            <a:chOff x="287379" y="1830928"/>
            <a:chExt cx="3683726" cy="3149722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7B5373C2-C36D-4318-A967-18E75FDA6EC6}"/>
                </a:ext>
              </a:extLst>
            </p:cNvPr>
            <p:cNvSpPr/>
            <p:nvPr/>
          </p:nvSpPr>
          <p:spPr>
            <a:xfrm>
              <a:off x="287379" y="1830928"/>
              <a:ext cx="3683726" cy="3149722"/>
            </a:xfrm>
            <a:prstGeom prst="roundRect">
              <a:avLst/>
            </a:prstGeom>
            <a:grpFill/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F9CE57B5-E904-4340-BF17-717CF3F9A7AF}"/>
                </a:ext>
              </a:extLst>
            </p:cNvPr>
            <p:cNvSpPr txBox="1"/>
            <p:nvPr/>
          </p:nvSpPr>
          <p:spPr>
            <a:xfrm>
              <a:off x="364462" y="2116123"/>
              <a:ext cx="447787" cy="11219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pt-BR" sz="160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O QUE É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B04F42A8-4E2C-4884-AF80-7DD2173AECB6}"/>
                </a:ext>
              </a:extLst>
            </p:cNvPr>
            <p:cNvSpPr txBox="1"/>
            <p:nvPr/>
          </p:nvSpPr>
          <p:spPr>
            <a:xfrm>
              <a:off x="364462" y="3272250"/>
              <a:ext cx="3370217" cy="15299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just"/>
              <a:r>
                <a:rPr lang="pt-BR" sz="12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 Semibold" panose="020B0702040204020203" pitchFamily="34" charset="0"/>
                  <a:ea typeface="Open Sans Condensed Light"/>
                  <a:cs typeface="Segoe UI Semibold" panose="020B0702040204020203" pitchFamily="34" charset="0"/>
                </a:rPr>
                <a:t>O Ecossistema de Soluções Digitais para a Educação busca consolidar, em ambiente aberto, possíveis soluções e iniciativas que envolvam tecnologia da informação para apoio às redes educacionais nos seus diferentes níveis de maturidade.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511A92A3-6A83-4CED-9BEC-EA9FA176E9CA}"/>
              </a:ext>
            </a:extLst>
          </p:cNvPr>
          <p:cNvGrpSpPr/>
          <p:nvPr/>
        </p:nvGrpSpPr>
        <p:grpSpPr>
          <a:xfrm>
            <a:off x="401823" y="2456437"/>
            <a:ext cx="10767859" cy="1472339"/>
            <a:chOff x="287379" y="1656933"/>
            <a:chExt cx="3683726" cy="5354412"/>
          </a:xfrm>
          <a:gradFill flip="none" rotWithShape="1">
            <a:gsLst>
              <a:gs pos="0">
                <a:srgbClr val="FFC715">
                  <a:shade val="30000"/>
                  <a:satMod val="115000"/>
                </a:srgbClr>
              </a:gs>
              <a:gs pos="50000">
                <a:srgbClr val="FFC715">
                  <a:shade val="67500"/>
                  <a:satMod val="115000"/>
                </a:srgbClr>
              </a:gs>
              <a:gs pos="100000">
                <a:srgbClr val="FFC715">
                  <a:shade val="100000"/>
                  <a:satMod val="115000"/>
                </a:srgbClr>
              </a:gs>
            </a:gsLst>
            <a:lin ang="135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E907BE97-2BBC-4324-ABD3-EBE3C0F6676F}"/>
                </a:ext>
              </a:extLst>
            </p:cNvPr>
            <p:cNvSpPr/>
            <p:nvPr/>
          </p:nvSpPr>
          <p:spPr>
            <a:xfrm>
              <a:off x="287379" y="1656933"/>
              <a:ext cx="3683726" cy="5354412"/>
            </a:xfrm>
            <a:prstGeom prst="roundRect">
              <a:avLst/>
            </a:prstGeom>
            <a:grpFill/>
            <a:ln>
              <a:solidFill>
                <a:srgbClr val="BC8C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6BB5F758-2BF1-48EF-9090-E394694F1A0C}"/>
                </a:ext>
              </a:extLst>
            </p:cNvPr>
            <p:cNvSpPr txBox="1"/>
            <p:nvPr/>
          </p:nvSpPr>
          <p:spPr>
            <a:xfrm>
              <a:off x="364462" y="2084042"/>
              <a:ext cx="489667" cy="13851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pt-BR" sz="160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DESAFIOS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1F59FC95-4C5E-4A72-B0B2-6C8A4A8B3870}"/>
                </a:ext>
              </a:extLst>
            </p:cNvPr>
            <p:cNvSpPr txBox="1"/>
            <p:nvPr/>
          </p:nvSpPr>
          <p:spPr>
            <a:xfrm>
              <a:off x="356852" y="3225116"/>
              <a:ext cx="3570653" cy="36067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marL="144000" indent="-144000" algn="just">
                <a:buFont typeface="Arial" panose="020B0604020202020204" pitchFamily="34" charset="0"/>
                <a:buChar char="•"/>
              </a:pPr>
              <a:r>
                <a:rPr lang="pt-BR" sz="12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Consolidar, em uma única plataforma/portal, as diversas opções de soluções tecnológicas existentes no mercado com o tratamento adequado e respectivas classificações;</a:t>
              </a:r>
            </a:p>
            <a:p>
              <a:pPr marL="144000" indent="-144000" algn="just">
                <a:buFont typeface="Arial" panose="020B0604020202020204" pitchFamily="34" charset="0"/>
                <a:buChar char="•"/>
              </a:pPr>
              <a:endParaRPr lang="pt-BR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144000" indent="-144000" algn="just">
                <a:buFont typeface="Arial" panose="020B0604020202020204" pitchFamily="34" charset="0"/>
                <a:buChar char="•"/>
              </a:pPr>
              <a:r>
                <a:rPr lang="pt-BR" sz="12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Respeitando a autonomia dos estados e municípios, impulsionar o avanço da qualidade na educação através da tecnologia e colaboração com o mercado.</a:t>
              </a:r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5F70D5A6-755F-4F5A-9E80-8B51AE7740FD}"/>
              </a:ext>
            </a:extLst>
          </p:cNvPr>
          <p:cNvGrpSpPr/>
          <p:nvPr/>
        </p:nvGrpSpPr>
        <p:grpSpPr>
          <a:xfrm>
            <a:off x="401822" y="4207260"/>
            <a:ext cx="10767859" cy="1917943"/>
            <a:chOff x="287379" y="1656933"/>
            <a:chExt cx="3683726" cy="5934936"/>
          </a:xfrm>
          <a:gradFill flip="none" rotWithShape="1">
            <a:gsLst>
              <a:gs pos="0">
                <a:srgbClr val="368227">
                  <a:shade val="30000"/>
                  <a:satMod val="115000"/>
                </a:srgbClr>
              </a:gs>
              <a:gs pos="50000">
                <a:srgbClr val="368227">
                  <a:shade val="67500"/>
                  <a:satMod val="115000"/>
                </a:srgbClr>
              </a:gs>
              <a:gs pos="100000">
                <a:srgbClr val="368227">
                  <a:shade val="100000"/>
                  <a:satMod val="115000"/>
                </a:srgbClr>
              </a:gs>
            </a:gsLst>
            <a:lin ang="135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0" name="Retângulo: Cantos Arredondados 49">
              <a:extLst>
                <a:ext uri="{FF2B5EF4-FFF2-40B4-BE49-F238E27FC236}">
                  <a16:creationId xmlns:a16="http://schemas.microsoft.com/office/drawing/2014/main" id="{DF781F33-53A8-48F5-ADD5-EA4743176C3A}"/>
                </a:ext>
              </a:extLst>
            </p:cNvPr>
            <p:cNvSpPr/>
            <p:nvPr/>
          </p:nvSpPr>
          <p:spPr>
            <a:xfrm>
              <a:off x="287379" y="1656933"/>
              <a:ext cx="3683726" cy="5934936"/>
            </a:xfrm>
            <a:prstGeom prst="roundRect">
              <a:avLst/>
            </a:prstGeom>
            <a:grpFill/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F7793CAF-26B6-45EB-886E-B52EDD7A72B7}"/>
                </a:ext>
              </a:extLst>
            </p:cNvPr>
            <p:cNvSpPr txBox="1"/>
            <p:nvPr/>
          </p:nvSpPr>
          <p:spPr>
            <a:xfrm>
              <a:off x="364461" y="2084041"/>
              <a:ext cx="540314" cy="10741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pt-BR" sz="160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BENEFÍCIOS</a:t>
              </a:r>
            </a:p>
          </p:txBody>
        </p:sp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id="{291B386D-267E-4132-850E-6DB6C9467AD1}"/>
                </a:ext>
              </a:extLst>
            </p:cNvPr>
            <p:cNvSpPr txBox="1"/>
            <p:nvPr/>
          </p:nvSpPr>
          <p:spPr>
            <a:xfrm>
              <a:off x="364462" y="3093693"/>
              <a:ext cx="3561259" cy="439435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marL="144000" indent="-144000" algn="just">
                <a:buFont typeface="Arial" panose="020B0604020202020204" pitchFamily="34" charset="0"/>
                <a:buChar char="•"/>
              </a:pPr>
              <a:r>
                <a:rPr lang="pt-BR" sz="12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Aproximar o mercado privado com soluções consolidadas e inovadoras;</a:t>
              </a:r>
            </a:p>
            <a:p>
              <a:pPr marL="144000" indent="-144000" algn="just">
                <a:buFont typeface="Arial" panose="020B0604020202020204" pitchFamily="34" charset="0"/>
                <a:buChar char="•"/>
              </a:pPr>
              <a:endParaRPr lang="pt-BR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144000" indent="-144000" algn="just">
                <a:buFont typeface="Arial" panose="020B0604020202020204" pitchFamily="34" charset="0"/>
                <a:buChar char="•"/>
              </a:pPr>
              <a:r>
                <a:rPr lang="pt-BR" sz="12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Experimentar, em ambientes controlados, soluções e iniciativas que possam acelerar o processo de inclusão digital nas escolas e instituições;</a:t>
              </a:r>
            </a:p>
            <a:p>
              <a:pPr marL="144000" indent="-144000" algn="just">
                <a:buFont typeface="Arial" panose="020B0604020202020204" pitchFamily="34" charset="0"/>
                <a:buChar char="•"/>
              </a:pPr>
              <a:endParaRPr lang="pt-BR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144000" indent="-144000" algn="just">
                <a:buFont typeface="Arial" panose="020B0604020202020204" pitchFamily="34" charset="0"/>
                <a:buChar char="•"/>
              </a:pPr>
              <a:r>
                <a:rPr lang="pt-BR" sz="12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Aprimorar e complementar o ensino com soluções digitais;</a:t>
              </a:r>
            </a:p>
            <a:p>
              <a:pPr marL="144000" indent="-144000" algn="just">
                <a:buFont typeface="Arial" panose="020B0604020202020204" pitchFamily="34" charset="0"/>
                <a:buChar char="•"/>
              </a:pPr>
              <a:endParaRPr lang="pt-BR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144000" indent="-144000" algn="just">
                <a:buFont typeface="Arial" panose="020B0604020202020204" pitchFamily="34" charset="0"/>
                <a:buChar char="•"/>
              </a:pPr>
              <a:r>
                <a:rPr lang="pt-BR" sz="12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Equalizar o acesso aos serviços digitais para a educação.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7848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m 62" descr="Uma imagem contendo Forma&#10;&#10;Descrição gerada automaticamente">
            <a:extLst>
              <a:ext uri="{FF2B5EF4-FFF2-40B4-BE49-F238E27FC236}">
                <a16:creationId xmlns:a16="http://schemas.microsoft.com/office/drawing/2014/main" id="{40475FEF-0A5B-4C48-BC2B-FD663DD3D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726" y="3510472"/>
            <a:ext cx="1578202" cy="1346732"/>
          </a:xfrm>
          <a:prstGeom prst="rect">
            <a:avLst/>
          </a:prstGeom>
        </p:spPr>
      </p:pic>
      <p:pic>
        <p:nvPicPr>
          <p:cNvPr id="20" name="Imagem 19" descr="Forma, Padrão do plano de fundo&#10;&#10;Descrição gerada automaticamente">
            <a:extLst>
              <a:ext uri="{FF2B5EF4-FFF2-40B4-BE49-F238E27FC236}">
                <a16:creationId xmlns:a16="http://schemas.microsoft.com/office/drawing/2014/main" id="{0EA4CB43-1178-4346-BAD4-D62116E8939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60286" cy="6858000"/>
          </a:xfrm>
          <a:prstGeom prst="rect">
            <a:avLst/>
          </a:prstGeom>
        </p:spPr>
      </p:pic>
      <p:pic>
        <p:nvPicPr>
          <p:cNvPr id="61" name="Imagem 60" descr="Gráfico&#10;&#10;Descrição gerada automaticamente">
            <a:extLst>
              <a:ext uri="{FF2B5EF4-FFF2-40B4-BE49-F238E27FC236}">
                <a16:creationId xmlns:a16="http://schemas.microsoft.com/office/drawing/2014/main" id="{2A8CCFA5-3A91-4BDD-A422-4D1B9A6C80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799" y="1071657"/>
            <a:ext cx="3254475" cy="2533274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06EFD35-7A6A-4119-8B59-1855623B1CF2}"/>
              </a:ext>
            </a:extLst>
          </p:cNvPr>
          <p:cNvCxnSpPr/>
          <p:nvPr/>
        </p:nvCxnSpPr>
        <p:spPr>
          <a:xfrm>
            <a:off x="34836" y="6566263"/>
            <a:ext cx="9344297" cy="0"/>
          </a:xfrm>
          <a:prstGeom prst="line">
            <a:avLst/>
          </a:prstGeom>
          <a:ln w="28575">
            <a:solidFill>
              <a:srgbClr val="16882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7" name="Imagem 6" descr="Ícone&#10;&#10;Descrição gerada automaticamente">
            <a:extLst>
              <a:ext uri="{FF2B5EF4-FFF2-40B4-BE49-F238E27FC236}">
                <a16:creationId xmlns:a16="http://schemas.microsoft.com/office/drawing/2014/main" id="{AC4AD30A-8979-414C-BF7B-A833CE120F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233" y="6169828"/>
            <a:ext cx="2780860" cy="535573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AB2E8F3E-5FFD-4F0C-B907-C83567AE701C}"/>
              </a:ext>
            </a:extLst>
          </p:cNvPr>
          <p:cNvGrpSpPr/>
          <p:nvPr/>
        </p:nvGrpSpPr>
        <p:grpSpPr>
          <a:xfrm>
            <a:off x="0" y="-2084"/>
            <a:ext cx="12192000" cy="158644"/>
            <a:chOff x="0" y="-2084"/>
            <a:chExt cx="12192000" cy="158644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9C8717AD-664E-40A2-8948-8770DADBBDCD}"/>
                </a:ext>
              </a:extLst>
            </p:cNvPr>
            <p:cNvSpPr/>
            <p:nvPr/>
          </p:nvSpPr>
          <p:spPr>
            <a:xfrm>
              <a:off x="0" y="-2084"/>
              <a:ext cx="4040778" cy="155949"/>
            </a:xfrm>
            <a:prstGeom prst="rect">
              <a:avLst/>
            </a:prstGeom>
            <a:solidFill>
              <a:srgbClr val="1688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47498199-2A55-409B-BF74-542765A54941}"/>
                </a:ext>
              </a:extLst>
            </p:cNvPr>
            <p:cNvSpPr/>
            <p:nvPr/>
          </p:nvSpPr>
          <p:spPr>
            <a:xfrm>
              <a:off x="4040777" y="-2084"/>
              <a:ext cx="4040777" cy="155957"/>
            </a:xfrm>
            <a:prstGeom prst="rect">
              <a:avLst/>
            </a:prstGeom>
            <a:solidFill>
              <a:srgbClr val="FFCD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1A1D0D5D-1666-440E-9654-3B242B9EE6B2}"/>
                </a:ext>
              </a:extLst>
            </p:cNvPr>
            <p:cNvSpPr/>
            <p:nvPr/>
          </p:nvSpPr>
          <p:spPr>
            <a:xfrm>
              <a:off x="8081554" y="-2084"/>
              <a:ext cx="4110446" cy="158644"/>
            </a:xfrm>
            <a:prstGeom prst="rect">
              <a:avLst/>
            </a:prstGeom>
            <a:solidFill>
              <a:srgbClr val="155B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233443F-266C-47F5-90C2-DCDB36CBB6DC}"/>
              </a:ext>
            </a:extLst>
          </p:cNvPr>
          <p:cNvSpPr txBox="1"/>
          <p:nvPr/>
        </p:nvSpPr>
        <p:spPr>
          <a:xfrm>
            <a:off x="176505" y="291736"/>
            <a:ext cx="2383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68821"/>
                </a:solidFill>
                <a:latin typeface="Century Gothic" panose="020B0502020202020204" pitchFamily="34" charset="0"/>
                <a:cs typeface="Segoe UI Semibold" panose="020B0702040204020203" pitchFamily="34" charset="0"/>
              </a:rPr>
              <a:t>Visão Macro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4087C2C9-6734-4CE9-8C4B-AE4E455F4B4E}"/>
              </a:ext>
            </a:extLst>
          </p:cNvPr>
          <p:cNvGrpSpPr/>
          <p:nvPr/>
        </p:nvGrpSpPr>
        <p:grpSpPr>
          <a:xfrm>
            <a:off x="0" y="891264"/>
            <a:ext cx="12192000" cy="155957"/>
            <a:chOff x="0" y="-2084"/>
            <a:chExt cx="12192000" cy="155957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A131C52C-F1B2-43B8-9C23-9E245A1055BF}"/>
                </a:ext>
              </a:extLst>
            </p:cNvPr>
            <p:cNvSpPr/>
            <p:nvPr/>
          </p:nvSpPr>
          <p:spPr>
            <a:xfrm>
              <a:off x="0" y="-2084"/>
              <a:ext cx="4040778" cy="155949"/>
            </a:xfrm>
            <a:prstGeom prst="rect">
              <a:avLst/>
            </a:prstGeom>
            <a:solidFill>
              <a:srgbClr val="168821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2061B503-42E5-4106-959C-4517C7F4669F}"/>
                </a:ext>
              </a:extLst>
            </p:cNvPr>
            <p:cNvSpPr/>
            <p:nvPr/>
          </p:nvSpPr>
          <p:spPr>
            <a:xfrm>
              <a:off x="4040777" y="-2084"/>
              <a:ext cx="4040777" cy="155957"/>
            </a:xfrm>
            <a:prstGeom prst="rect">
              <a:avLst/>
            </a:prstGeom>
            <a:solidFill>
              <a:srgbClr val="FFCD07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BD5A3ED-1B2A-4B66-ACD7-6BA6ACD35BFC}"/>
                </a:ext>
              </a:extLst>
            </p:cNvPr>
            <p:cNvSpPr/>
            <p:nvPr/>
          </p:nvSpPr>
          <p:spPr>
            <a:xfrm>
              <a:off x="8081554" y="-2084"/>
              <a:ext cx="4110446" cy="155948"/>
            </a:xfrm>
            <a:prstGeom prst="rect">
              <a:avLst/>
            </a:prstGeom>
            <a:solidFill>
              <a:srgbClr val="155BCB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B96AAED5-D050-4301-BFFC-A0211F3A1CF8}"/>
              </a:ext>
            </a:extLst>
          </p:cNvPr>
          <p:cNvCxnSpPr>
            <a:cxnSpLocks/>
          </p:cNvCxnSpPr>
          <p:nvPr/>
        </p:nvCxnSpPr>
        <p:spPr>
          <a:xfrm>
            <a:off x="6966862" y="1863639"/>
            <a:ext cx="1079863" cy="0"/>
          </a:xfrm>
          <a:prstGeom prst="line">
            <a:avLst/>
          </a:prstGeom>
          <a:ln w="3175">
            <a:solidFill>
              <a:srgbClr val="41414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F426BE92-9A6C-4706-91A0-B6ACD094FF16}"/>
              </a:ext>
            </a:extLst>
          </p:cNvPr>
          <p:cNvSpPr txBox="1"/>
          <p:nvPr/>
        </p:nvSpPr>
        <p:spPr>
          <a:xfrm>
            <a:off x="8055434" y="1711164"/>
            <a:ext cx="4142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6. Ferramentas Complementares de Ensino</a:t>
            </a: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E8FE0110-CD8F-400C-86CC-33CFC867FD60}"/>
              </a:ext>
            </a:extLst>
          </p:cNvPr>
          <p:cNvCxnSpPr>
            <a:cxnSpLocks/>
          </p:cNvCxnSpPr>
          <p:nvPr/>
        </p:nvCxnSpPr>
        <p:spPr>
          <a:xfrm>
            <a:off x="6818814" y="2410825"/>
            <a:ext cx="1079863" cy="0"/>
          </a:xfrm>
          <a:prstGeom prst="line">
            <a:avLst/>
          </a:prstGeom>
          <a:ln w="3175">
            <a:solidFill>
              <a:srgbClr val="41414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C3CE7EEF-DA11-4174-8BB9-DB616066ACC3}"/>
              </a:ext>
            </a:extLst>
          </p:cNvPr>
          <p:cNvSpPr txBox="1"/>
          <p:nvPr/>
        </p:nvSpPr>
        <p:spPr>
          <a:xfrm>
            <a:off x="7907386" y="2258350"/>
            <a:ext cx="4215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5. Ferramentas para Gestão de Informações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AC3E9388-4DDB-4A0B-98E5-B606F676AB68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6570618" y="2885450"/>
            <a:ext cx="1166953" cy="16802"/>
          </a:xfrm>
          <a:prstGeom prst="line">
            <a:avLst/>
          </a:prstGeom>
          <a:ln w="3175">
            <a:solidFill>
              <a:srgbClr val="41414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C46F152B-9752-48F7-B30E-893C2CA05B19}"/>
              </a:ext>
            </a:extLst>
          </p:cNvPr>
          <p:cNvSpPr txBox="1"/>
          <p:nvPr/>
        </p:nvSpPr>
        <p:spPr>
          <a:xfrm>
            <a:off x="7737571" y="2732975"/>
            <a:ext cx="23214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4. Ferramentas de Aula</a:t>
            </a:r>
          </a:p>
        </p:txBody>
      </p: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FE53404A-1D62-4ED6-93DF-6E3CB89DC491}"/>
              </a:ext>
            </a:extLst>
          </p:cNvPr>
          <p:cNvGrpSpPr/>
          <p:nvPr/>
        </p:nvGrpSpPr>
        <p:grpSpPr>
          <a:xfrm>
            <a:off x="2843349" y="3079094"/>
            <a:ext cx="5956653" cy="562178"/>
            <a:chOff x="3122021" y="3009422"/>
            <a:chExt cx="5956653" cy="5621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7" name="Retângulo: Cantos Arredondados 56">
              <a:extLst>
                <a:ext uri="{FF2B5EF4-FFF2-40B4-BE49-F238E27FC236}">
                  <a16:creationId xmlns:a16="http://schemas.microsoft.com/office/drawing/2014/main" id="{65A7570A-1A48-45DA-A365-8016676AA466}"/>
                </a:ext>
              </a:extLst>
            </p:cNvPr>
            <p:cNvSpPr/>
            <p:nvPr/>
          </p:nvSpPr>
          <p:spPr>
            <a:xfrm>
              <a:off x="3122021" y="3022963"/>
              <a:ext cx="1837509" cy="548637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Ferramenta para avaliação pedagógica</a:t>
              </a:r>
            </a:p>
          </p:txBody>
        </p:sp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id="{F48B2677-3B27-457B-92AF-AC647A779A1A}"/>
                </a:ext>
              </a:extLst>
            </p:cNvPr>
            <p:cNvSpPr/>
            <p:nvPr/>
          </p:nvSpPr>
          <p:spPr>
            <a:xfrm>
              <a:off x="5035934" y="3014081"/>
              <a:ext cx="1983168" cy="548637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Ferramenta para gestão de sala de aula e atividades</a:t>
              </a:r>
            </a:p>
          </p:txBody>
        </p:sp>
        <p:sp>
          <p:nvSpPr>
            <p:cNvPr id="66" name="Retângulo: Cantos Arredondados 65">
              <a:extLst>
                <a:ext uri="{FF2B5EF4-FFF2-40B4-BE49-F238E27FC236}">
                  <a16:creationId xmlns:a16="http://schemas.microsoft.com/office/drawing/2014/main" id="{BFFC38F3-1E59-4E16-8953-B0B9F8152D07}"/>
                </a:ext>
              </a:extLst>
            </p:cNvPr>
            <p:cNvSpPr/>
            <p:nvPr/>
          </p:nvSpPr>
          <p:spPr>
            <a:xfrm>
              <a:off x="7095506" y="3009422"/>
              <a:ext cx="1983168" cy="548637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Ferramentas para interação e colaboração</a:t>
              </a:r>
            </a:p>
          </p:txBody>
        </p:sp>
      </p:grp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A91A2051-F01A-4789-BE84-E3E3B56EAEE7}"/>
              </a:ext>
            </a:extLst>
          </p:cNvPr>
          <p:cNvCxnSpPr>
            <a:cxnSpLocks/>
          </p:cNvCxnSpPr>
          <p:nvPr/>
        </p:nvCxnSpPr>
        <p:spPr>
          <a:xfrm>
            <a:off x="6329870" y="3971830"/>
            <a:ext cx="1079863" cy="0"/>
          </a:xfrm>
          <a:prstGeom prst="line">
            <a:avLst/>
          </a:prstGeom>
          <a:ln w="3175">
            <a:solidFill>
              <a:srgbClr val="41414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32684FFF-FE68-4A54-A04E-DE3C29FA87E7}"/>
              </a:ext>
            </a:extLst>
          </p:cNvPr>
          <p:cNvSpPr txBox="1"/>
          <p:nvPr/>
        </p:nvSpPr>
        <p:spPr>
          <a:xfrm>
            <a:off x="7418442" y="3819355"/>
            <a:ext cx="29814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3. Sistema para gestão escolar</a:t>
            </a:r>
          </a:p>
        </p:txBody>
      </p: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70858E7B-34C2-4EDF-B2C0-BCC729DE0EDF}"/>
              </a:ext>
            </a:extLst>
          </p:cNvPr>
          <p:cNvCxnSpPr>
            <a:cxnSpLocks/>
          </p:cNvCxnSpPr>
          <p:nvPr/>
        </p:nvCxnSpPr>
        <p:spPr>
          <a:xfrm>
            <a:off x="6107802" y="4365566"/>
            <a:ext cx="1079863" cy="0"/>
          </a:xfrm>
          <a:prstGeom prst="line">
            <a:avLst/>
          </a:prstGeom>
          <a:ln w="3175">
            <a:solidFill>
              <a:srgbClr val="41414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C0CB0AD6-8262-4669-A817-CDF8C60AF6AF}"/>
              </a:ext>
            </a:extLst>
          </p:cNvPr>
          <p:cNvSpPr txBox="1"/>
          <p:nvPr/>
        </p:nvSpPr>
        <p:spPr>
          <a:xfrm>
            <a:off x="7196374" y="4213091"/>
            <a:ext cx="2543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2. Equipagem das escolas</a:t>
            </a:r>
          </a:p>
        </p:txBody>
      </p: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C101A23E-B7A2-410D-BE80-6ACB545099ED}"/>
              </a:ext>
            </a:extLst>
          </p:cNvPr>
          <p:cNvGrpSpPr/>
          <p:nvPr/>
        </p:nvGrpSpPr>
        <p:grpSpPr>
          <a:xfrm>
            <a:off x="2394869" y="4582781"/>
            <a:ext cx="6860286" cy="548637"/>
            <a:chOff x="2403570" y="4530527"/>
            <a:chExt cx="6860286" cy="54863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Retângulo: Cantos Arredondados 68">
              <a:extLst>
                <a:ext uri="{FF2B5EF4-FFF2-40B4-BE49-F238E27FC236}">
                  <a16:creationId xmlns:a16="http://schemas.microsoft.com/office/drawing/2014/main" id="{41A35C79-B639-4F1E-9698-C28BD99C3F7A}"/>
                </a:ext>
              </a:extLst>
            </p:cNvPr>
            <p:cNvSpPr/>
            <p:nvPr/>
          </p:nvSpPr>
          <p:spPr>
            <a:xfrm>
              <a:off x="2403570" y="4530527"/>
              <a:ext cx="1606735" cy="548637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Infraestrutura </a:t>
              </a:r>
              <a:br>
                <a:rPr lang="pt-BR" sz="1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</a:br>
              <a:r>
                <a:rPr lang="pt-BR" sz="1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tecnológica</a:t>
              </a:r>
            </a:p>
          </p:txBody>
        </p:sp>
        <p:sp>
          <p:nvSpPr>
            <p:cNvPr id="70" name="Retângulo: Cantos Arredondados 69">
              <a:extLst>
                <a:ext uri="{FF2B5EF4-FFF2-40B4-BE49-F238E27FC236}">
                  <a16:creationId xmlns:a16="http://schemas.microsoft.com/office/drawing/2014/main" id="{E9E3986D-5387-425A-BA43-14BD36C98BE6}"/>
                </a:ext>
              </a:extLst>
            </p:cNvPr>
            <p:cNvSpPr/>
            <p:nvPr/>
          </p:nvSpPr>
          <p:spPr>
            <a:xfrm>
              <a:off x="4086709" y="4530527"/>
              <a:ext cx="1837509" cy="548637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Equipamentos para alunos e professores</a:t>
              </a:r>
            </a:p>
          </p:txBody>
        </p:sp>
        <p:sp>
          <p:nvSpPr>
            <p:cNvPr id="71" name="Retângulo: Cantos Arredondados 70">
              <a:extLst>
                <a:ext uri="{FF2B5EF4-FFF2-40B4-BE49-F238E27FC236}">
                  <a16:creationId xmlns:a16="http://schemas.microsoft.com/office/drawing/2014/main" id="{C298A4A5-7468-47AA-B55A-9EE8588BF37D}"/>
                </a:ext>
              </a:extLst>
            </p:cNvPr>
            <p:cNvSpPr/>
            <p:nvPr/>
          </p:nvSpPr>
          <p:spPr>
            <a:xfrm>
              <a:off x="6000623" y="4530527"/>
              <a:ext cx="1552804" cy="548637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Ambientes compartilhados</a:t>
              </a:r>
            </a:p>
          </p:txBody>
        </p:sp>
        <p:sp>
          <p:nvSpPr>
            <p:cNvPr id="73" name="Retângulo: Cantos Arredondados 72">
              <a:extLst>
                <a:ext uri="{FF2B5EF4-FFF2-40B4-BE49-F238E27FC236}">
                  <a16:creationId xmlns:a16="http://schemas.microsoft.com/office/drawing/2014/main" id="{0DCE7E71-47E2-416C-897D-9F4DD7EA1F5C}"/>
                </a:ext>
              </a:extLst>
            </p:cNvPr>
            <p:cNvSpPr/>
            <p:nvPr/>
          </p:nvSpPr>
          <p:spPr>
            <a:xfrm>
              <a:off x="7632283" y="4530527"/>
              <a:ext cx="1631573" cy="548637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Laboratórios e salas de inovação</a:t>
              </a:r>
            </a:p>
          </p:txBody>
        </p:sp>
      </p:grpSp>
      <p:grpSp>
        <p:nvGrpSpPr>
          <p:cNvPr id="75" name="Agrupar 74">
            <a:extLst>
              <a:ext uri="{FF2B5EF4-FFF2-40B4-BE49-F238E27FC236}">
                <a16:creationId xmlns:a16="http://schemas.microsoft.com/office/drawing/2014/main" id="{20B0B5F5-8DBE-4191-9537-7443E3405F2A}"/>
              </a:ext>
            </a:extLst>
          </p:cNvPr>
          <p:cNvGrpSpPr/>
          <p:nvPr/>
        </p:nvGrpSpPr>
        <p:grpSpPr>
          <a:xfrm>
            <a:off x="3333848" y="5589106"/>
            <a:ext cx="4973015" cy="548637"/>
            <a:chOff x="3729227" y="3024902"/>
            <a:chExt cx="4973015" cy="548637"/>
          </a:xfrm>
          <a:solidFill>
            <a:srgbClr val="FFC71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6" name="Retângulo: Cantos Arredondados 75">
              <a:extLst>
                <a:ext uri="{FF2B5EF4-FFF2-40B4-BE49-F238E27FC236}">
                  <a16:creationId xmlns:a16="http://schemas.microsoft.com/office/drawing/2014/main" id="{A1911BAB-E82E-411E-88F5-7FF0D06A4273}"/>
                </a:ext>
              </a:extLst>
            </p:cNvPr>
            <p:cNvSpPr/>
            <p:nvPr/>
          </p:nvSpPr>
          <p:spPr>
            <a:xfrm>
              <a:off x="3729227" y="3024902"/>
              <a:ext cx="1606735" cy="548637"/>
            </a:xfrm>
            <a:prstGeom prst="roundRect">
              <a:avLst/>
            </a:prstGeom>
            <a:grpFill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Centro</a:t>
              </a:r>
              <a:br>
                <a:rPr lang="pt-BR" sz="1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</a:br>
              <a:r>
                <a:rPr lang="pt-BR" sz="1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 metropolitano</a:t>
              </a:r>
            </a:p>
          </p:txBody>
        </p:sp>
        <p:sp>
          <p:nvSpPr>
            <p:cNvPr id="77" name="Retângulo: Cantos Arredondados 76">
              <a:extLst>
                <a:ext uri="{FF2B5EF4-FFF2-40B4-BE49-F238E27FC236}">
                  <a16:creationId xmlns:a16="http://schemas.microsoft.com/office/drawing/2014/main" id="{19041C1C-A8BB-495B-87ED-55BAA5998DAC}"/>
                </a:ext>
              </a:extLst>
            </p:cNvPr>
            <p:cNvSpPr/>
            <p:nvPr/>
          </p:nvSpPr>
          <p:spPr>
            <a:xfrm>
              <a:off x="5412366" y="3024902"/>
              <a:ext cx="1606736" cy="548637"/>
            </a:xfrm>
            <a:prstGeom prst="roundRect">
              <a:avLst/>
            </a:prstGeom>
            <a:grpFill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Urbano</a:t>
              </a:r>
            </a:p>
          </p:txBody>
        </p:sp>
        <p:sp>
          <p:nvSpPr>
            <p:cNvPr id="78" name="Retângulo: Cantos Arredondados 77">
              <a:extLst>
                <a:ext uri="{FF2B5EF4-FFF2-40B4-BE49-F238E27FC236}">
                  <a16:creationId xmlns:a16="http://schemas.microsoft.com/office/drawing/2014/main" id="{4CEE88E1-B1D8-4931-A06C-4B2B671119D5}"/>
                </a:ext>
              </a:extLst>
            </p:cNvPr>
            <p:cNvSpPr/>
            <p:nvPr/>
          </p:nvSpPr>
          <p:spPr>
            <a:xfrm>
              <a:off x="7095506" y="3024902"/>
              <a:ext cx="1606736" cy="548637"/>
            </a:xfrm>
            <a:prstGeom prst="roundRect">
              <a:avLst/>
            </a:prstGeom>
            <a:grpFill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Rural</a:t>
              </a:r>
            </a:p>
          </p:txBody>
        </p:sp>
      </p:grpSp>
      <p:pic>
        <p:nvPicPr>
          <p:cNvPr id="65" name="Imagem 64" descr="Uma imagem contendo Forma&#10;&#10;Descrição gerada automaticamente">
            <a:extLst>
              <a:ext uri="{FF2B5EF4-FFF2-40B4-BE49-F238E27FC236}">
                <a16:creationId xmlns:a16="http://schemas.microsoft.com/office/drawing/2014/main" id="{32618AB9-0852-4591-A922-61FD26F610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808" y="5033163"/>
            <a:ext cx="715236" cy="739361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B3238B38-36A7-4C35-A7E3-E3641FB06097}"/>
              </a:ext>
            </a:extLst>
          </p:cNvPr>
          <p:cNvCxnSpPr>
            <a:cxnSpLocks/>
          </p:cNvCxnSpPr>
          <p:nvPr/>
        </p:nvCxnSpPr>
        <p:spPr>
          <a:xfrm>
            <a:off x="5894900" y="5355249"/>
            <a:ext cx="965386" cy="0"/>
          </a:xfrm>
          <a:prstGeom prst="line">
            <a:avLst/>
          </a:prstGeom>
          <a:ln w="3175">
            <a:solidFill>
              <a:srgbClr val="41414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42DAD52F-F95A-4803-AD8F-C1237EAC8F36}"/>
              </a:ext>
            </a:extLst>
          </p:cNvPr>
          <p:cNvSpPr txBox="1"/>
          <p:nvPr/>
        </p:nvSpPr>
        <p:spPr>
          <a:xfrm>
            <a:off x="6878964" y="5202774"/>
            <a:ext cx="16962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1. Conectividade</a:t>
            </a:r>
          </a:p>
        </p:txBody>
      </p:sp>
      <p:grpSp>
        <p:nvGrpSpPr>
          <p:cNvPr id="82" name="Agrupar 81">
            <a:extLst>
              <a:ext uri="{FF2B5EF4-FFF2-40B4-BE49-F238E27FC236}">
                <a16:creationId xmlns:a16="http://schemas.microsoft.com/office/drawing/2014/main" id="{02A9BFC9-603D-47E2-8094-951FB616AC23}"/>
              </a:ext>
            </a:extLst>
          </p:cNvPr>
          <p:cNvGrpSpPr/>
          <p:nvPr/>
        </p:nvGrpSpPr>
        <p:grpSpPr>
          <a:xfrm rot="2700000">
            <a:off x="9342168" y="3044365"/>
            <a:ext cx="1011601" cy="639491"/>
            <a:chOff x="10638213" y="2963193"/>
            <a:chExt cx="926431" cy="80025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0" name="Retângulo: Cantos Arredondados 79">
              <a:extLst>
                <a:ext uri="{FF2B5EF4-FFF2-40B4-BE49-F238E27FC236}">
                  <a16:creationId xmlns:a16="http://schemas.microsoft.com/office/drawing/2014/main" id="{B0EDE12F-0F61-4B68-8B86-CBA922EDDDF4}"/>
                </a:ext>
              </a:extLst>
            </p:cNvPr>
            <p:cNvSpPr/>
            <p:nvPr/>
          </p:nvSpPr>
          <p:spPr>
            <a:xfrm rot="18900000">
              <a:off x="10638213" y="2963193"/>
              <a:ext cx="926431" cy="80025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81" name="CaixaDeTexto 80">
              <a:extLst>
                <a:ext uri="{FF2B5EF4-FFF2-40B4-BE49-F238E27FC236}">
                  <a16:creationId xmlns:a16="http://schemas.microsoft.com/office/drawing/2014/main" id="{05C23B73-4555-46AF-AF87-BBD33F14CB00}"/>
                </a:ext>
              </a:extLst>
            </p:cNvPr>
            <p:cNvSpPr txBox="1"/>
            <p:nvPr/>
          </p:nvSpPr>
          <p:spPr>
            <a:xfrm rot="18900000">
              <a:off x="10652725" y="3038721"/>
              <a:ext cx="877454" cy="6219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Rede</a:t>
              </a:r>
            </a:p>
            <a:p>
              <a:pPr algn="ctr"/>
              <a:r>
                <a:rPr lang="pt-BR" sz="14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Aprender</a:t>
              </a:r>
            </a:p>
          </p:txBody>
        </p: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20481251-E10F-42A3-ACE7-AC5292926BD7}"/>
              </a:ext>
            </a:extLst>
          </p:cNvPr>
          <p:cNvGrpSpPr/>
          <p:nvPr/>
        </p:nvGrpSpPr>
        <p:grpSpPr>
          <a:xfrm>
            <a:off x="818199" y="2829574"/>
            <a:ext cx="1776791" cy="1014301"/>
            <a:chOff x="1493694" y="2796559"/>
            <a:chExt cx="1266574" cy="98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4" name="Retângulo: Cantos Arredondados 83">
              <a:extLst>
                <a:ext uri="{FF2B5EF4-FFF2-40B4-BE49-F238E27FC236}">
                  <a16:creationId xmlns:a16="http://schemas.microsoft.com/office/drawing/2014/main" id="{81F0BED9-677B-45D4-84E4-D4DD9D513C51}"/>
                </a:ext>
              </a:extLst>
            </p:cNvPr>
            <p:cNvSpPr/>
            <p:nvPr/>
          </p:nvSpPr>
          <p:spPr>
            <a:xfrm rot="16200000">
              <a:off x="1632115" y="2658138"/>
              <a:ext cx="989731" cy="126657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85" name="CaixaDeTexto 84">
              <a:extLst>
                <a:ext uri="{FF2B5EF4-FFF2-40B4-BE49-F238E27FC236}">
                  <a16:creationId xmlns:a16="http://schemas.microsoft.com/office/drawing/2014/main" id="{8C352E9C-31C3-47A0-8EC8-83DC95E8ABDC}"/>
                </a:ext>
              </a:extLst>
            </p:cNvPr>
            <p:cNvSpPr txBox="1"/>
            <p:nvPr/>
          </p:nvSpPr>
          <p:spPr>
            <a:xfrm>
              <a:off x="1534883" y="2906706"/>
              <a:ext cx="1184000" cy="810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Repositório </a:t>
              </a:r>
            </a:p>
            <a:p>
              <a:pPr algn="ctr"/>
              <a:r>
                <a:rPr lang="pt-BR" sz="1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de conteúdos, </a:t>
              </a:r>
              <a:r>
                <a:rPr lang="pt-BR" sz="1200" i="1" dirty="0" err="1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templates</a:t>
              </a:r>
              <a:r>
                <a:rPr lang="pt-BR" sz="1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e materiais de apoio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7174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 descr="Forma, Padrão do plano de fundo&#10;&#10;Descrição gerada automaticamente">
            <a:extLst>
              <a:ext uri="{FF2B5EF4-FFF2-40B4-BE49-F238E27FC236}">
                <a16:creationId xmlns:a16="http://schemas.microsoft.com/office/drawing/2014/main" id="{0EA4CB43-1178-4346-BAD4-D62116E8939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1" y="0"/>
            <a:ext cx="6860286" cy="685800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06EFD35-7A6A-4119-8B59-1855623B1CF2}"/>
              </a:ext>
            </a:extLst>
          </p:cNvPr>
          <p:cNvCxnSpPr/>
          <p:nvPr/>
        </p:nvCxnSpPr>
        <p:spPr>
          <a:xfrm>
            <a:off x="-8709" y="6566263"/>
            <a:ext cx="9344297" cy="0"/>
          </a:xfrm>
          <a:prstGeom prst="line">
            <a:avLst/>
          </a:prstGeom>
          <a:ln w="28575">
            <a:solidFill>
              <a:srgbClr val="16882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7" name="Imagem 6" descr="Ícone&#10;&#10;Descrição gerada automaticamente">
            <a:extLst>
              <a:ext uri="{FF2B5EF4-FFF2-40B4-BE49-F238E27FC236}">
                <a16:creationId xmlns:a16="http://schemas.microsoft.com/office/drawing/2014/main" id="{AC4AD30A-8979-414C-BF7B-A833CE120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233" y="6169828"/>
            <a:ext cx="2780860" cy="535573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AB2E8F3E-5FFD-4F0C-B907-C83567AE701C}"/>
              </a:ext>
            </a:extLst>
          </p:cNvPr>
          <p:cNvGrpSpPr/>
          <p:nvPr/>
        </p:nvGrpSpPr>
        <p:grpSpPr>
          <a:xfrm>
            <a:off x="0" y="-2084"/>
            <a:ext cx="12192000" cy="158644"/>
            <a:chOff x="0" y="-2084"/>
            <a:chExt cx="12192000" cy="158644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9C8717AD-664E-40A2-8948-8770DADBBDCD}"/>
                </a:ext>
              </a:extLst>
            </p:cNvPr>
            <p:cNvSpPr/>
            <p:nvPr/>
          </p:nvSpPr>
          <p:spPr>
            <a:xfrm>
              <a:off x="0" y="-2084"/>
              <a:ext cx="4040778" cy="155949"/>
            </a:xfrm>
            <a:prstGeom prst="rect">
              <a:avLst/>
            </a:prstGeom>
            <a:solidFill>
              <a:srgbClr val="1688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47498199-2A55-409B-BF74-542765A54941}"/>
                </a:ext>
              </a:extLst>
            </p:cNvPr>
            <p:cNvSpPr/>
            <p:nvPr/>
          </p:nvSpPr>
          <p:spPr>
            <a:xfrm>
              <a:off x="4040777" y="-2084"/>
              <a:ext cx="4040777" cy="155957"/>
            </a:xfrm>
            <a:prstGeom prst="rect">
              <a:avLst/>
            </a:prstGeom>
            <a:solidFill>
              <a:srgbClr val="FFCD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1A1D0D5D-1666-440E-9654-3B242B9EE6B2}"/>
                </a:ext>
              </a:extLst>
            </p:cNvPr>
            <p:cNvSpPr/>
            <p:nvPr/>
          </p:nvSpPr>
          <p:spPr>
            <a:xfrm>
              <a:off x="8081554" y="-2084"/>
              <a:ext cx="4110446" cy="158644"/>
            </a:xfrm>
            <a:prstGeom prst="rect">
              <a:avLst/>
            </a:prstGeom>
            <a:solidFill>
              <a:srgbClr val="155B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233443F-266C-47F5-90C2-DCDB36CBB6DC}"/>
              </a:ext>
            </a:extLst>
          </p:cNvPr>
          <p:cNvSpPr txBox="1"/>
          <p:nvPr/>
        </p:nvSpPr>
        <p:spPr>
          <a:xfrm>
            <a:off x="176505" y="291736"/>
            <a:ext cx="4172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68821"/>
                </a:solidFill>
                <a:latin typeface="Century Gothic" panose="020B0502020202020204" pitchFamily="34" charset="0"/>
                <a:cs typeface="Segoe UI Semibold" panose="020B0702040204020203" pitchFamily="34" charset="0"/>
              </a:rPr>
              <a:t>Concepção do Projeto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4087C2C9-6734-4CE9-8C4B-AE4E455F4B4E}"/>
              </a:ext>
            </a:extLst>
          </p:cNvPr>
          <p:cNvGrpSpPr/>
          <p:nvPr/>
        </p:nvGrpSpPr>
        <p:grpSpPr>
          <a:xfrm>
            <a:off x="0" y="891264"/>
            <a:ext cx="12192000" cy="155957"/>
            <a:chOff x="0" y="-2084"/>
            <a:chExt cx="12192000" cy="155957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A131C52C-F1B2-43B8-9C23-9E245A1055BF}"/>
                </a:ext>
              </a:extLst>
            </p:cNvPr>
            <p:cNvSpPr/>
            <p:nvPr/>
          </p:nvSpPr>
          <p:spPr>
            <a:xfrm>
              <a:off x="0" y="-2084"/>
              <a:ext cx="4040778" cy="155949"/>
            </a:xfrm>
            <a:prstGeom prst="rect">
              <a:avLst/>
            </a:prstGeom>
            <a:solidFill>
              <a:srgbClr val="168821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2061B503-42E5-4106-959C-4517C7F4669F}"/>
                </a:ext>
              </a:extLst>
            </p:cNvPr>
            <p:cNvSpPr/>
            <p:nvPr/>
          </p:nvSpPr>
          <p:spPr>
            <a:xfrm>
              <a:off x="4040777" y="-2084"/>
              <a:ext cx="4040777" cy="155957"/>
            </a:xfrm>
            <a:prstGeom prst="rect">
              <a:avLst/>
            </a:prstGeom>
            <a:solidFill>
              <a:srgbClr val="FFCD07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BD5A3ED-1B2A-4B66-ACD7-6BA6ACD35BFC}"/>
                </a:ext>
              </a:extLst>
            </p:cNvPr>
            <p:cNvSpPr/>
            <p:nvPr/>
          </p:nvSpPr>
          <p:spPr>
            <a:xfrm>
              <a:off x="8081554" y="-2084"/>
              <a:ext cx="4110446" cy="155948"/>
            </a:xfrm>
            <a:prstGeom prst="rect">
              <a:avLst/>
            </a:prstGeom>
            <a:solidFill>
              <a:srgbClr val="155BCB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2FEE7FD6-2C6A-41B8-AA7B-DFBBB345F451}"/>
              </a:ext>
            </a:extLst>
          </p:cNvPr>
          <p:cNvGrpSpPr/>
          <p:nvPr/>
        </p:nvGrpSpPr>
        <p:grpSpPr>
          <a:xfrm>
            <a:off x="8212111" y="1359555"/>
            <a:ext cx="2980033" cy="970111"/>
            <a:chOff x="8125021" y="1359555"/>
            <a:chExt cx="2980033" cy="970111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667976BB-1A6D-4BBF-A410-E1ECE902502E}"/>
                </a:ext>
              </a:extLst>
            </p:cNvPr>
            <p:cNvSpPr/>
            <p:nvPr/>
          </p:nvSpPr>
          <p:spPr>
            <a:xfrm>
              <a:off x="8125021" y="1359555"/>
              <a:ext cx="2980033" cy="755079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Parceiros para avaliação preliminar</a:t>
              </a:r>
            </a:p>
          </p:txBody>
        </p:sp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7C3FFC69-6A09-4AEA-899E-ACBAD7CCCA9B}"/>
                </a:ext>
              </a:extLst>
            </p:cNvPr>
            <p:cNvSpPr/>
            <p:nvPr/>
          </p:nvSpPr>
          <p:spPr>
            <a:xfrm>
              <a:off x="8220892" y="2013270"/>
              <a:ext cx="794028" cy="30777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D34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CIEB</a:t>
              </a:r>
              <a:endParaRPr lang="pt-BR" sz="18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id="{432F5EFA-00FE-4E59-8903-AC8D6BC949B0}"/>
                </a:ext>
              </a:extLst>
            </p:cNvPr>
            <p:cNvSpPr/>
            <p:nvPr/>
          </p:nvSpPr>
          <p:spPr>
            <a:xfrm>
              <a:off x="9119422" y="2021889"/>
              <a:ext cx="991230" cy="30777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D34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TELLUS</a:t>
              </a:r>
            </a:p>
          </p:txBody>
        </p:sp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id="{387493AA-21D5-471A-A42A-0746BCB25B65}"/>
                </a:ext>
              </a:extLst>
            </p:cNvPr>
            <p:cNvSpPr/>
            <p:nvPr/>
          </p:nvSpPr>
          <p:spPr>
            <a:xfrm>
              <a:off x="10218326" y="2013392"/>
              <a:ext cx="794028" cy="30777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D34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...</a:t>
              </a:r>
              <a:endParaRPr lang="pt-BR" sz="18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D241612A-0570-4CFC-919E-8AB4C81072B1}"/>
              </a:ext>
            </a:extLst>
          </p:cNvPr>
          <p:cNvGrpSpPr/>
          <p:nvPr/>
        </p:nvGrpSpPr>
        <p:grpSpPr>
          <a:xfrm>
            <a:off x="4528461" y="1732141"/>
            <a:ext cx="2933755" cy="2575716"/>
            <a:chOff x="4441371" y="1732141"/>
            <a:chExt cx="2933755" cy="2575716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EA919EDA-DD8A-4BF7-9469-F842307157AB}"/>
                </a:ext>
              </a:extLst>
            </p:cNvPr>
            <p:cNvSpPr/>
            <p:nvPr/>
          </p:nvSpPr>
          <p:spPr>
            <a:xfrm>
              <a:off x="4441371" y="2181471"/>
              <a:ext cx="2933755" cy="2126386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95BE19A1-6A7E-473B-A468-1DB34F6D8F95}"/>
                </a:ext>
              </a:extLst>
            </p:cNvPr>
            <p:cNvSpPr txBox="1"/>
            <p:nvPr/>
          </p:nvSpPr>
          <p:spPr>
            <a:xfrm>
              <a:off x="5108031" y="1732141"/>
              <a:ext cx="1728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>
                  <a:solidFill>
                    <a:srgbClr val="414141"/>
                  </a:solidFill>
                  <a:latin typeface="Century Gothic" panose="020B0502020202020204" pitchFamily="34" charset="0"/>
                  <a:cs typeface="Segoe UI" panose="020B0502040204020203" pitchFamily="34" charset="0"/>
                </a:rPr>
                <a:t>ECOSSISTEMA</a:t>
              </a:r>
            </a:p>
          </p:txBody>
        </p:sp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7BB3A362-03C9-4988-90CC-23E4DAE45D82}"/>
                </a:ext>
              </a:extLst>
            </p:cNvPr>
            <p:cNvSpPr/>
            <p:nvPr/>
          </p:nvSpPr>
          <p:spPr>
            <a:xfrm>
              <a:off x="4605190" y="2486564"/>
              <a:ext cx="2675144" cy="30777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Portal de Soluções</a:t>
              </a:r>
            </a:p>
          </p:txBody>
        </p:sp>
        <p:sp>
          <p:nvSpPr>
            <p:cNvPr id="48" name="Retângulo: Cantos Arredondados 47">
              <a:extLst>
                <a:ext uri="{FF2B5EF4-FFF2-40B4-BE49-F238E27FC236}">
                  <a16:creationId xmlns:a16="http://schemas.microsoft.com/office/drawing/2014/main" id="{56364E85-2186-4D59-BE8C-E48E1C699B3B}"/>
                </a:ext>
              </a:extLst>
            </p:cNvPr>
            <p:cNvSpPr/>
            <p:nvPr/>
          </p:nvSpPr>
          <p:spPr>
            <a:xfrm>
              <a:off x="4605189" y="2863952"/>
              <a:ext cx="2675145" cy="30777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Catálogo de preços negociais</a:t>
              </a:r>
            </a:p>
          </p:txBody>
        </p:sp>
        <p:sp>
          <p:nvSpPr>
            <p:cNvPr id="49" name="Retângulo: Cantos Arredondados 48">
              <a:extLst>
                <a:ext uri="{FF2B5EF4-FFF2-40B4-BE49-F238E27FC236}">
                  <a16:creationId xmlns:a16="http://schemas.microsoft.com/office/drawing/2014/main" id="{53BFB981-4778-4B3C-B1CF-307DC42C902C}"/>
                </a:ext>
              </a:extLst>
            </p:cNvPr>
            <p:cNvSpPr/>
            <p:nvPr/>
          </p:nvSpPr>
          <p:spPr>
            <a:xfrm>
              <a:off x="4605189" y="3244172"/>
              <a:ext cx="1307931" cy="30777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Marketplace</a:t>
              </a:r>
            </a:p>
          </p:txBody>
        </p:sp>
        <p:sp>
          <p:nvSpPr>
            <p:cNvPr id="54" name="Retângulo: Cantos Arredondados 53">
              <a:extLst>
                <a:ext uri="{FF2B5EF4-FFF2-40B4-BE49-F238E27FC236}">
                  <a16:creationId xmlns:a16="http://schemas.microsoft.com/office/drawing/2014/main" id="{B0C2565C-B78B-4A9D-9E6E-DF37AB6CDCBA}"/>
                </a:ext>
              </a:extLst>
            </p:cNvPr>
            <p:cNvSpPr/>
            <p:nvPr/>
          </p:nvSpPr>
          <p:spPr>
            <a:xfrm>
              <a:off x="5972403" y="3244172"/>
              <a:ext cx="1307931" cy="30777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Inovação</a:t>
              </a:r>
            </a:p>
          </p:txBody>
        </p:sp>
        <p:sp>
          <p:nvSpPr>
            <p:cNvPr id="55" name="Retângulo: Cantos Arredondados 54">
              <a:extLst>
                <a:ext uri="{FF2B5EF4-FFF2-40B4-BE49-F238E27FC236}">
                  <a16:creationId xmlns:a16="http://schemas.microsoft.com/office/drawing/2014/main" id="{6E00510F-2A23-4C42-AC11-916B7A9B5B96}"/>
                </a:ext>
              </a:extLst>
            </p:cNvPr>
            <p:cNvSpPr/>
            <p:nvPr/>
          </p:nvSpPr>
          <p:spPr>
            <a:xfrm>
              <a:off x="4605188" y="3631947"/>
              <a:ext cx="2675145" cy="30777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Broker</a:t>
              </a:r>
            </a:p>
          </p:txBody>
        </p:sp>
        <p:sp>
          <p:nvSpPr>
            <p:cNvPr id="56" name="Retângulo: Cantos Arredondados 55">
              <a:extLst>
                <a:ext uri="{FF2B5EF4-FFF2-40B4-BE49-F238E27FC236}">
                  <a16:creationId xmlns:a16="http://schemas.microsoft.com/office/drawing/2014/main" id="{A9A64833-1537-4D68-A081-CE1C4FBB3353}"/>
                </a:ext>
              </a:extLst>
            </p:cNvPr>
            <p:cNvSpPr/>
            <p:nvPr/>
          </p:nvSpPr>
          <p:spPr>
            <a:xfrm>
              <a:off x="4663438" y="3874018"/>
              <a:ext cx="1031967" cy="30777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D34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SERPRO</a:t>
              </a:r>
            </a:p>
          </p:txBody>
        </p:sp>
        <p:sp>
          <p:nvSpPr>
            <p:cNvPr id="57" name="Retângulo: Cantos Arredondados 56">
              <a:extLst>
                <a:ext uri="{FF2B5EF4-FFF2-40B4-BE49-F238E27FC236}">
                  <a16:creationId xmlns:a16="http://schemas.microsoft.com/office/drawing/2014/main" id="{74107668-E776-4A4A-94A3-4B59971522AC}"/>
                </a:ext>
              </a:extLst>
            </p:cNvPr>
            <p:cNvSpPr/>
            <p:nvPr/>
          </p:nvSpPr>
          <p:spPr>
            <a:xfrm>
              <a:off x="6460102" y="3875935"/>
              <a:ext cx="733178" cy="30777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D34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RNP</a:t>
              </a:r>
            </a:p>
          </p:txBody>
        </p:sp>
      </p:grp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90480BFD-D353-49EE-939F-8012305A5460}"/>
              </a:ext>
            </a:extLst>
          </p:cNvPr>
          <p:cNvSpPr/>
          <p:nvPr/>
        </p:nvSpPr>
        <p:spPr>
          <a:xfrm>
            <a:off x="8212110" y="3302695"/>
            <a:ext cx="2980033" cy="75507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Instituições públicas e privadas para consumo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9D7308EB-25E9-4D09-A4BD-0D86CA10EF21}"/>
              </a:ext>
            </a:extLst>
          </p:cNvPr>
          <p:cNvSpPr/>
          <p:nvPr/>
        </p:nvSpPr>
        <p:spPr>
          <a:xfrm>
            <a:off x="8212110" y="4207609"/>
            <a:ext cx="2980033" cy="75507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Instituições públicas para inovação e provas de conceito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D477262-6B9F-4F34-BCD7-0FE1DDD7EEBE}"/>
              </a:ext>
            </a:extLst>
          </p:cNvPr>
          <p:cNvGrpSpPr/>
          <p:nvPr/>
        </p:nvGrpSpPr>
        <p:grpSpPr>
          <a:xfrm>
            <a:off x="4044296" y="5145367"/>
            <a:ext cx="3971108" cy="959055"/>
            <a:chOff x="3971109" y="5121310"/>
            <a:chExt cx="3971108" cy="959055"/>
          </a:xfrm>
        </p:grpSpPr>
        <p:sp>
          <p:nvSpPr>
            <p:cNvPr id="60" name="Retângulo: Cantos Arredondados 59">
              <a:extLst>
                <a:ext uri="{FF2B5EF4-FFF2-40B4-BE49-F238E27FC236}">
                  <a16:creationId xmlns:a16="http://schemas.microsoft.com/office/drawing/2014/main" id="{A3EB3277-D461-4573-9776-523CA2EB4007}"/>
                </a:ext>
              </a:extLst>
            </p:cNvPr>
            <p:cNvSpPr/>
            <p:nvPr/>
          </p:nvSpPr>
          <p:spPr>
            <a:xfrm>
              <a:off x="3971109" y="5121310"/>
              <a:ext cx="3971108" cy="755079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Instância de validação e comitê </a:t>
              </a:r>
            </a:p>
            <a:p>
              <a:pPr algn="ctr"/>
              <a:r>
                <a:rPr lang="pt-BR" sz="14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(MEC e representantes)</a:t>
              </a:r>
            </a:p>
          </p:txBody>
        </p:sp>
        <p:sp>
          <p:nvSpPr>
            <p:cNvPr id="61" name="Retângulo: Cantos Arredondados 60">
              <a:extLst>
                <a:ext uri="{FF2B5EF4-FFF2-40B4-BE49-F238E27FC236}">
                  <a16:creationId xmlns:a16="http://schemas.microsoft.com/office/drawing/2014/main" id="{67FF8E26-B08A-4A4E-939F-E8F6FD634B09}"/>
                </a:ext>
              </a:extLst>
            </p:cNvPr>
            <p:cNvSpPr/>
            <p:nvPr/>
          </p:nvSpPr>
          <p:spPr>
            <a:xfrm>
              <a:off x="4066993" y="5772588"/>
              <a:ext cx="682614" cy="30777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D34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SEB</a:t>
              </a:r>
              <a:endParaRPr lang="pt-BR" sz="18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62" name="Retângulo: Cantos Arredondados 61">
              <a:extLst>
                <a:ext uri="{FF2B5EF4-FFF2-40B4-BE49-F238E27FC236}">
                  <a16:creationId xmlns:a16="http://schemas.microsoft.com/office/drawing/2014/main" id="{0176CAFB-1A33-4845-82F4-D65272316045}"/>
                </a:ext>
              </a:extLst>
            </p:cNvPr>
            <p:cNvSpPr/>
            <p:nvPr/>
          </p:nvSpPr>
          <p:spPr>
            <a:xfrm>
              <a:off x="4845524" y="5772588"/>
              <a:ext cx="794028" cy="30777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D34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SEALF</a:t>
              </a:r>
            </a:p>
          </p:txBody>
        </p:sp>
        <p:sp>
          <p:nvSpPr>
            <p:cNvPr id="64" name="Retângulo: Cantos Arredondados 63">
              <a:extLst>
                <a:ext uri="{FF2B5EF4-FFF2-40B4-BE49-F238E27FC236}">
                  <a16:creationId xmlns:a16="http://schemas.microsoft.com/office/drawing/2014/main" id="{8EF6FBF6-6BF7-4A9B-8577-7CEAB2579005}"/>
                </a:ext>
              </a:extLst>
            </p:cNvPr>
            <p:cNvSpPr/>
            <p:nvPr/>
          </p:nvSpPr>
          <p:spPr>
            <a:xfrm>
              <a:off x="5737191" y="5772588"/>
              <a:ext cx="680993" cy="30777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D34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STIC</a:t>
              </a:r>
            </a:p>
          </p:txBody>
        </p:sp>
        <p:sp>
          <p:nvSpPr>
            <p:cNvPr id="65" name="Retângulo: Cantos Arredondados 64">
              <a:extLst>
                <a:ext uri="{FF2B5EF4-FFF2-40B4-BE49-F238E27FC236}">
                  <a16:creationId xmlns:a16="http://schemas.microsoft.com/office/drawing/2014/main" id="{A0351056-F7C8-488E-9F8C-49870ED9EA32}"/>
                </a:ext>
              </a:extLst>
            </p:cNvPr>
            <p:cNvSpPr/>
            <p:nvPr/>
          </p:nvSpPr>
          <p:spPr>
            <a:xfrm>
              <a:off x="6515823" y="5772588"/>
              <a:ext cx="764510" cy="30777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D34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SESU</a:t>
              </a:r>
            </a:p>
          </p:txBody>
        </p:sp>
        <p:sp>
          <p:nvSpPr>
            <p:cNvPr id="66" name="Retângulo: Cantos Arredondados 65">
              <a:extLst>
                <a:ext uri="{FF2B5EF4-FFF2-40B4-BE49-F238E27FC236}">
                  <a16:creationId xmlns:a16="http://schemas.microsoft.com/office/drawing/2014/main" id="{E6A1EF44-29DE-4EF8-8C10-3994F17A8716}"/>
                </a:ext>
              </a:extLst>
            </p:cNvPr>
            <p:cNvSpPr/>
            <p:nvPr/>
          </p:nvSpPr>
          <p:spPr>
            <a:xfrm>
              <a:off x="7375126" y="5772587"/>
              <a:ext cx="471297" cy="30777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D34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...</a:t>
              </a:r>
            </a:p>
          </p:txBody>
        </p:sp>
      </p:grp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BDC53DC0-AE7A-444D-A765-471A859A83C4}"/>
              </a:ext>
            </a:extLst>
          </p:cNvPr>
          <p:cNvCxnSpPr>
            <a:cxnSpLocks/>
          </p:cNvCxnSpPr>
          <p:nvPr/>
        </p:nvCxnSpPr>
        <p:spPr>
          <a:xfrm>
            <a:off x="5995339" y="4415246"/>
            <a:ext cx="0" cy="61830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tângulo: Cantos Arredondados 66">
            <a:extLst>
              <a:ext uri="{FF2B5EF4-FFF2-40B4-BE49-F238E27FC236}">
                <a16:creationId xmlns:a16="http://schemas.microsoft.com/office/drawing/2014/main" id="{61D34CF4-8312-48BE-A38E-80F0F76B812B}"/>
              </a:ext>
            </a:extLst>
          </p:cNvPr>
          <p:cNvSpPr/>
          <p:nvPr/>
        </p:nvSpPr>
        <p:spPr>
          <a:xfrm>
            <a:off x="512319" y="1713029"/>
            <a:ext cx="2780860" cy="40160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Parceiros públicos</a:t>
            </a:r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FF13497C-3411-406E-A74E-E75604C28AD7}"/>
              </a:ext>
            </a:extLst>
          </p:cNvPr>
          <p:cNvSpPr/>
          <p:nvPr/>
        </p:nvSpPr>
        <p:spPr>
          <a:xfrm>
            <a:off x="512319" y="2240776"/>
            <a:ext cx="2780860" cy="51598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Grandes empresas</a:t>
            </a:r>
          </a:p>
          <a:p>
            <a:pPr algn="ctr"/>
            <a:r>
              <a:rPr lang="pt-BR" sz="14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(tradicional)</a:t>
            </a:r>
          </a:p>
        </p:txBody>
      </p:sp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BA2D782B-00FF-41F7-A71B-E99AC5740816}"/>
              </a:ext>
            </a:extLst>
          </p:cNvPr>
          <p:cNvSpPr/>
          <p:nvPr/>
        </p:nvSpPr>
        <p:spPr>
          <a:xfrm>
            <a:off x="512318" y="2882899"/>
            <a:ext cx="2780860" cy="7371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Negociação de Catálogos de Referência para contratações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2FAF1937-3C96-4A0E-B7D1-BD92F141336E}"/>
              </a:ext>
            </a:extLst>
          </p:cNvPr>
          <p:cNvSpPr/>
          <p:nvPr/>
        </p:nvSpPr>
        <p:spPr>
          <a:xfrm>
            <a:off x="512318" y="3746161"/>
            <a:ext cx="2780860" cy="40160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Startups</a:t>
            </a:r>
            <a:r>
              <a:rPr lang="pt-BR" sz="14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com produtos prontos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62DCBC09-3FD6-4373-BF4B-27AF4281F3E6}"/>
              </a:ext>
            </a:extLst>
          </p:cNvPr>
          <p:cNvSpPr/>
          <p:nvPr/>
        </p:nvSpPr>
        <p:spPr>
          <a:xfrm>
            <a:off x="512318" y="4273908"/>
            <a:ext cx="2780860" cy="51598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Startups</a:t>
            </a:r>
            <a:r>
              <a:rPr lang="pt-BR" sz="14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com </a:t>
            </a:r>
            <a:r>
              <a:rPr lang="pt-BR" sz="1400" dirty="0" err="1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MVP's</a:t>
            </a:r>
            <a:r>
              <a:rPr lang="pt-BR" sz="14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 testes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9A8992FB-DA72-448D-BB57-8CD522836FAF}"/>
              </a:ext>
            </a:extLst>
          </p:cNvPr>
          <p:cNvSpPr/>
          <p:nvPr/>
        </p:nvSpPr>
        <p:spPr>
          <a:xfrm>
            <a:off x="508396" y="4916033"/>
            <a:ext cx="2780860" cy="51598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Startups </a:t>
            </a:r>
            <a:r>
              <a:rPr lang="pt-BR" sz="14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 criação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3836AFF9-148A-4E71-9937-697BBA80A404}"/>
              </a:ext>
            </a:extLst>
          </p:cNvPr>
          <p:cNvCxnSpPr>
            <a:cxnSpLocks/>
          </p:cNvCxnSpPr>
          <p:nvPr/>
        </p:nvCxnSpPr>
        <p:spPr>
          <a:xfrm flipV="1">
            <a:off x="7413245" y="1809294"/>
            <a:ext cx="746168" cy="412891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877ABB4A-015C-4BFD-A33E-152505772AEF}"/>
              </a:ext>
            </a:extLst>
          </p:cNvPr>
          <p:cNvCxnSpPr>
            <a:cxnSpLocks/>
          </p:cNvCxnSpPr>
          <p:nvPr/>
        </p:nvCxnSpPr>
        <p:spPr>
          <a:xfrm flipV="1">
            <a:off x="3496267" y="3343837"/>
            <a:ext cx="849926" cy="4811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9A04CEF9-D53E-4B59-853D-C32E900F36EF}"/>
              </a:ext>
            </a:extLst>
          </p:cNvPr>
          <p:cNvSpPr txBox="1"/>
          <p:nvPr/>
        </p:nvSpPr>
        <p:spPr>
          <a:xfrm>
            <a:off x="3436175" y="2989988"/>
            <a:ext cx="945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rgbClr val="41414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Recepção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14E8DC20-F4D7-4F2E-807C-8ACDBB35E118}"/>
              </a:ext>
            </a:extLst>
          </p:cNvPr>
          <p:cNvSpPr txBox="1"/>
          <p:nvPr/>
        </p:nvSpPr>
        <p:spPr>
          <a:xfrm>
            <a:off x="3586611" y="3447174"/>
            <a:ext cx="639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rgbClr val="41414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Busca</a:t>
            </a:r>
          </a:p>
          <a:p>
            <a:pPr algn="ctr"/>
            <a:r>
              <a:rPr lang="pt-BR" sz="1400" dirty="0">
                <a:solidFill>
                  <a:srgbClr val="41414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Ativa</a:t>
            </a:r>
          </a:p>
        </p:txBody>
      </p:sp>
    </p:spTree>
    <p:extLst>
      <p:ext uri="{BB962C8B-B14F-4D97-AF65-F5344CB8AC3E}">
        <p14:creationId xmlns:p14="http://schemas.microsoft.com/office/powerpoint/2010/main" val="2568776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 descr="Forma, Padrão do plano de fundo&#10;&#10;Descrição gerada automaticamente">
            <a:extLst>
              <a:ext uri="{FF2B5EF4-FFF2-40B4-BE49-F238E27FC236}">
                <a16:creationId xmlns:a16="http://schemas.microsoft.com/office/drawing/2014/main" id="{0EA4CB43-1178-4346-BAD4-D62116E8939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1" y="0"/>
            <a:ext cx="6860286" cy="685800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06EFD35-7A6A-4119-8B59-1855623B1CF2}"/>
              </a:ext>
            </a:extLst>
          </p:cNvPr>
          <p:cNvCxnSpPr/>
          <p:nvPr/>
        </p:nvCxnSpPr>
        <p:spPr>
          <a:xfrm>
            <a:off x="-8709" y="6566263"/>
            <a:ext cx="9344297" cy="0"/>
          </a:xfrm>
          <a:prstGeom prst="line">
            <a:avLst/>
          </a:prstGeom>
          <a:ln w="28575">
            <a:solidFill>
              <a:srgbClr val="16882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7" name="Imagem 6" descr="Ícone&#10;&#10;Descrição gerada automaticamente">
            <a:extLst>
              <a:ext uri="{FF2B5EF4-FFF2-40B4-BE49-F238E27FC236}">
                <a16:creationId xmlns:a16="http://schemas.microsoft.com/office/drawing/2014/main" id="{AC4AD30A-8979-414C-BF7B-A833CE120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233" y="6169828"/>
            <a:ext cx="2780860" cy="535573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AB2E8F3E-5FFD-4F0C-B907-C83567AE701C}"/>
              </a:ext>
            </a:extLst>
          </p:cNvPr>
          <p:cNvGrpSpPr/>
          <p:nvPr/>
        </p:nvGrpSpPr>
        <p:grpSpPr>
          <a:xfrm>
            <a:off x="0" y="-2084"/>
            <a:ext cx="12192000" cy="158644"/>
            <a:chOff x="0" y="-2084"/>
            <a:chExt cx="12192000" cy="158644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9C8717AD-664E-40A2-8948-8770DADBBDCD}"/>
                </a:ext>
              </a:extLst>
            </p:cNvPr>
            <p:cNvSpPr/>
            <p:nvPr/>
          </p:nvSpPr>
          <p:spPr>
            <a:xfrm>
              <a:off x="0" y="-2084"/>
              <a:ext cx="4040778" cy="155949"/>
            </a:xfrm>
            <a:prstGeom prst="rect">
              <a:avLst/>
            </a:prstGeom>
            <a:solidFill>
              <a:srgbClr val="1688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47498199-2A55-409B-BF74-542765A54941}"/>
                </a:ext>
              </a:extLst>
            </p:cNvPr>
            <p:cNvSpPr/>
            <p:nvPr/>
          </p:nvSpPr>
          <p:spPr>
            <a:xfrm>
              <a:off x="4040777" y="-2084"/>
              <a:ext cx="4040777" cy="155957"/>
            </a:xfrm>
            <a:prstGeom prst="rect">
              <a:avLst/>
            </a:prstGeom>
            <a:solidFill>
              <a:srgbClr val="FFCD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1A1D0D5D-1666-440E-9654-3B242B9EE6B2}"/>
                </a:ext>
              </a:extLst>
            </p:cNvPr>
            <p:cNvSpPr/>
            <p:nvPr/>
          </p:nvSpPr>
          <p:spPr>
            <a:xfrm>
              <a:off x="8081554" y="-2084"/>
              <a:ext cx="4110446" cy="158644"/>
            </a:xfrm>
            <a:prstGeom prst="rect">
              <a:avLst/>
            </a:prstGeom>
            <a:solidFill>
              <a:srgbClr val="155B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233443F-266C-47F5-90C2-DCDB36CBB6DC}"/>
              </a:ext>
            </a:extLst>
          </p:cNvPr>
          <p:cNvSpPr txBox="1"/>
          <p:nvPr/>
        </p:nvSpPr>
        <p:spPr>
          <a:xfrm>
            <a:off x="176505" y="291736"/>
            <a:ext cx="36744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168821"/>
                </a:solidFill>
                <a:latin typeface="Century Gothic" panose="020B0502020202020204" pitchFamily="34" charset="0"/>
                <a:cs typeface="Segoe UI Semibold" panose="020B0702040204020203" pitchFamily="34" charset="0"/>
              </a:rPr>
              <a:t>Concepção do Projeto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4087C2C9-6734-4CE9-8C4B-AE4E455F4B4E}"/>
              </a:ext>
            </a:extLst>
          </p:cNvPr>
          <p:cNvGrpSpPr/>
          <p:nvPr/>
        </p:nvGrpSpPr>
        <p:grpSpPr>
          <a:xfrm>
            <a:off x="0" y="891264"/>
            <a:ext cx="12192000" cy="155957"/>
            <a:chOff x="0" y="-2084"/>
            <a:chExt cx="12192000" cy="155957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A131C52C-F1B2-43B8-9C23-9E245A1055BF}"/>
                </a:ext>
              </a:extLst>
            </p:cNvPr>
            <p:cNvSpPr/>
            <p:nvPr/>
          </p:nvSpPr>
          <p:spPr>
            <a:xfrm>
              <a:off x="0" y="-2084"/>
              <a:ext cx="4040778" cy="155949"/>
            </a:xfrm>
            <a:prstGeom prst="rect">
              <a:avLst/>
            </a:prstGeom>
            <a:solidFill>
              <a:srgbClr val="168821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2061B503-42E5-4106-959C-4517C7F4669F}"/>
                </a:ext>
              </a:extLst>
            </p:cNvPr>
            <p:cNvSpPr/>
            <p:nvPr/>
          </p:nvSpPr>
          <p:spPr>
            <a:xfrm>
              <a:off x="4040777" y="-2084"/>
              <a:ext cx="4040777" cy="155957"/>
            </a:xfrm>
            <a:prstGeom prst="rect">
              <a:avLst/>
            </a:prstGeom>
            <a:solidFill>
              <a:srgbClr val="FFCD07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BD5A3ED-1B2A-4B66-ACD7-6BA6ACD35BFC}"/>
                </a:ext>
              </a:extLst>
            </p:cNvPr>
            <p:cNvSpPr/>
            <p:nvPr/>
          </p:nvSpPr>
          <p:spPr>
            <a:xfrm>
              <a:off x="8081554" y="-2084"/>
              <a:ext cx="4110446" cy="155948"/>
            </a:xfrm>
            <a:prstGeom prst="rect">
              <a:avLst/>
            </a:prstGeom>
            <a:solidFill>
              <a:srgbClr val="155BCB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D241612A-0570-4CFC-919E-8AB4C81072B1}"/>
              </a:ext>
            </a:extLst>
          </p:cNvPr>
          <p:cNvGrpSpPr/>
          <p:nvPr/>
        </p:nvGrpSpPr>
        <p:grpSpPr>
          <a:xfrm>
            <a:off x="4528461" y="2181471"/>
            <a:ext cx="2933755" cy="2126386"/>
            <a:chOff x="4441371" y="2181471"/>
            <a:chExt cx="2933755" cy="2126386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EA919EDA-DD8A-4BF7-9469-F842307157AB}"/>
                </a:ext>
              </a:extLst>
            </p:cNvPr>
            <p:cNvSpPr/>
            <p:nvPr/>
          </p:nvSpPr>
          <p:spPr>
            <a:xfrm>
              <a:off x="4441371" y="2181471"/>
              <a:ext cx="2933755" cy="2126386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7BB3A362-03C9-4988-90CC-23E4DAE45D82}"/>
                </a:ext>
              </a:extLst>
            </p:cNvPr>
            <p:cNvSpPr/>
            <p:nvPr/>
          </p:nvSpPr>
          <p:spPr>
            <a:xfrm>
              <a:off x="4605190" y="2704355"/>
              <a:ext cx="2675144" cy="30777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Portal de Soluções</a:t>
              </a:r>
            </a:p>
          </p:txBody>
        </p:sp>
        <p:sp>
          <p:nvSpPr>
            <p:cNvPr id="49" name="Retângulo: Cantos Arredondados 48">
              <a:extLst>
                <a:ext uri="{FF2B5EF4-FFF2-40B4-BE49-F238E27FC236}">
                  <a16:creationId xmlns:a16="http://schemas.microsoft.com/office/drawing/2014/main" id="{53BFB981-4778-4B3C-B1CF-307DC42C902C}"/>
                </a:ext>
              </a:extLst>
            </p:cNvPr>
            <p:cNvSpPr/>
            <p:nvPr/>
          </p:nvSpPr>
          <p:spPr>
            <a:xfrm>
              <a:off x="4605189" y="3095741"/>
              <a:ext cx="1307931" cy="30777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Marketplace</a:t>
              </a:r>
            </a:p>
          </p:txBody>
        </p:sp>
        <p:sp>
          <p:nvSpPr>
            <p:cNvPr id="54" name="Retângulo: Cantos Arredondados 53">
              <a:extLst>
                <a:ext uri="{FF2B5EF4-FFF2-40B4-BE49-F238E27FC236}">
                  <a16:creationId xmlns:a16="http://schemas.microsoft.com/office/drawing/2014/main" id="{B0C2565C-B78B-4A9D-9E6E-DF37AB6CDCBA}"/>
                </a:ext>
              </a:extLst>
            </p:cNvPr>
            <p:cNvSpPr/>
            <p:nvPr/>
          </p:nvSpPr>
          <p:spPr>
            <a:xfrm>
              <a:off x="5972403" y="3095741"/>
              <a:ext cx="1307931" cy="30777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Inovação</a:t>
              </a:r>
            </a:p>
          </p:txBody>
        </p:sp>
        <p:sp>
          <p:nvSpPr>
            <p:cNvPr id="55" name="Retângulo: Cantos Arredondados 54">
              <a:extLst>
                <a:ext uri="{FF2B5EF4-FFF2-40B4-BE49-F238E27FC236}">
                  <a16:creationId xmlns:a16="http://schemas.microsoft.com/office/drawing/2014/main" id="{6E00510F-2A23-4C42-AC11-916B7A9B5B96}"/>
                </a:ext>
              </a:extLst>
            </p:cNvPr>
            <p:cNvSpPr/>
            <p:nvPr/>
          </p:nvSpPr>
          <p:spPr>
            <a:xfrm>
              <a:off x="4605188" y="3483516"/>
              <a:ext cx="2675145" cy="30777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Broker</a:t>
              </a: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D477262-6B9F-4F34-BCD7-0FE1DDD7EEBE}"/>
              </a:ext>
            </a:extLst>
          </p:cNvPr>
          <p:cNvGrpSpPr/>
          <p:nvPr/>
        </p:nvGrpSpPr>
        <p:grpSpPr>
          <a:xfrm>
            <a:off x="4462306" y="5145367"/>
            <a:ext cx="3135087" cy="959054"/>
            <a:chOff x="4455273" y="5121310"/>
            <a:chExt cx="3135087" cy="959054"/>
          </a:xfrm>
        </p:grpSpPr>
        <p:sp>
          <p:nvSpPr>
            <p:cNvPr id="60" name="Retângulo: Cantos Arredondados 59">
              <a:extLst>
                <a:ext uri="{FF2B5EF4-FFF2-40B4-BE49-F238E27FC236}">
                  <a16:creationId xmlns:a16="http://schemas.microsoft.com/office/drawing/2014/main" id="{A3EB3277-D461-4573-9776-523CA2EB4007}"/>
                </a:ext>
              </a:extLst>
            </p:cNvPr>
            <p:cNvSpPr/>
            <p:nvPr/>
          </p:nvSpPr>
          <p:spPr>
            <a:xfrm>
              <a:off x="4455273" y="5121310"/>
              <a:ext cx="3135087" cy="755079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Instância de validação e comitê (MEC e representantes)</a:t>
              </a:r>
            </a:p>
          </p:txBody>
        </p:sp>
        <p:sp>
          <p:nvSpPr>
            <p:cNvPr id="61" name="Retângulo: Cantos Arredondados 60">
              <a:extLst>
                <a:ext uri="{FF2B5EF4-FFF2-40B4-BE49-F238E27FC236}">
                  <a16:creationId xmlns:a16="http://schemas.microsoft.com/office/drawing/2014/main" id="{67FF8E26-B08A-4A4E-939F-E8F6FD634B09}"/>
                </a:ext>
              </a:extLst>
            </p:cNvPr>
            <p:cNvSpPr/>
            <p:nvPr/>
          </p:nvSpPr>
          <p:spPr>
            <a:xfrm>
              <a:off x="4590943" y="5772587"/>
              <a:ext cx="682614" cy="30777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D34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SEB</a:t>
              </a:r>
              <a:endParaRPr lang="pt-BR" sz="18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62" name="Retângulo: Cantos Arredondados 61">
              <a:extLst>
                <a:ext uri="{FF2B5EF4-FFF2-40B4-BE49-F238E27FC236}">
                  <a16:creationId xmlns:a16="http://schemas.microsoft.com/office/drawing/2014/main" id="{0176CAFB-1A33-4845-82F4-D65272316045}"/>
                </a:ext>
              </a:extLst>
            </p:cNvPr>
            <p:cNvSpPr/>
            <p:nvPr/>
          </p:nvSpPr>
          <p:spPr>
            <a:xfrm>
              <a:off x="5369474" y="5772587"/>
              <a:ext cx="794028" cy="30777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D34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SEALF</a:t>
              </a:r>
            </a:p>
          </p:txBody>
        </p:sp>
        <p:sp>
          <p:nvSpPr>
            <p:cNvPr id="64" name="Retângulo: Cantos Arredondados 63">
              <a:extLst>
                <a:ext uri="{FF2B5EF4-FFF2-40B4-BE49-F238E27FC236}">
                  <a16:creationId xmlns:a16="http://schemas.microsoft.com/office/drawing/2014/main" id="{8EF6FBF6-6BF7-4A9B-8577-7CEAB2579005}"/>
                </a:ext>
              </a:extLst>
            </p:cNvPr>
            <p:cNvSpPr/>
            <p:nvPr/>
          </p:nvSpPr>
          <p:spPr>
            <a:xfrm>
              <a:off x="6261141" y="5772587"/>
              <a:ext cx="680993" cy="30777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D34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STIC</a:t>
              </a:r>
            </a:p>
          </p:txBody>
        </p:sp>
        <p:sp>
          <p:nvSpPr>
            <p:cNvPr id="66" name="Retângulo: Cantos Arredondados 65">
              <a:extLst>
                <a:ext uri="{FF2B5EF4-FFF2-40B4-BE49-F238E27FC236}">
                  <a16:creationId xmlns:a16="http://schemas.microsoft.com/office/drawing/2014/main" id="{E6A1EF44-29DE-4EF8-8C10-3994F17A8716}"/>
                </a:ext>
              </a:extLst>
            </p:cNvPr>
            <p:cNvSpPr/>
            <p:nvPr/>
          </p:nvSpPr>
          <p:spPr>
            <a:xfrm>
              <a:off x="7039574" y="5772587"/>
              <a:ext cx="471297" cy="30777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D34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...</a:t>
              </a:r>
            </a:p>
          </p:txBody>
        </p:sp>
      </p:grpSp>
      <p:sp>
        <p:nvSpPr>
          <p:cNvPr id="67" name="Retângulo: Cantos Arredondados 66">
            <a:extLst>
              <a:ext uri="{FF2B5EF4-FFF2-40B4-BE49-F238E27FC236}">
                <a16:creationId xmlns:a16="http://schemas.microsoft.com/office/drawing/2014/main" id="{61D34CF4-8312-48BE-A38E-80F0F76B812B}"/>
              </a:ext>
            </a:extLst>
          </p:cNvPr>
          <p:cNvSpPr/>
          <p:nvPr/>
        </p:nvSpPr>
        <p:spPr>
          <a:xfrm>
            <a:off x="512319" y="1990872"/>
            <a:ext cx="2780860" cy="40160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Parceiros públicos</a:t>
            </a:r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FF13497C-3411-406E-A74E-E75604C28AD7}"/>
              </a:ext>
            </a:extLst>
          </p:cNvPr>
          <p:cNvSpPr/>
          <p:nvPr/>
        </p:nvSpPr>
        <p:spPr>
          <a:xfrm>
            <a:off x="512319" y="2521881"/>
            <a:ext cx="2780860" cy="40160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Grandes empresas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2FAF1937-3C96-4A0E-B7D1-BD92F141336E}"/>
              </a:ext>
            </a:extLst>
          </p:cNvPr>
          <p:cNvSpPr/>
          <p:nvPr/>
        </p:nvSpPr>
        <p:spPr>
          <a:xfrm>
            <a:off x="512318" y="3052891"/>
            <a:ext cx="2780860" cy="40160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Startups</a:t>
            </a:r>
            <a:r>
              <a:rPr lang="pt-BR" sz="14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com produtos prontos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62DCBC09-3FD6-4373-BF4B-27AF4281F3E6}"/>
              </a:ext>
            </a:extLst>
          </p:cNvPr>
          <p:cNvSpPr/>
          <p:nvPr/>
        </p:nvSpPr>
        <p:spPr>
          <a:xfrm>
            <a:off x="503820" y="3583900"/>
            <a:ext cx="2780860" cy="40160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Startups</a:t>
            </a:r>
            <a:r>
              <a:rPr lang="pt-BR" sz="14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com </a:t>
            </a:r>
            <a:r>
              <a:rPr lang="pt-BR" sz="1400" dirty="0" err="1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MVP's</a:t>
            </a:r>
            <a:r>
              <a:rPr lang="pt-BR" sz="14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 testes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9A8992FB-DA72-448D-BB57-8CD522836FAF}"/>
              </a:ext>
            </a:extLst>
          </p:cNvPr>
          <p:cNvSpPr/>
          <p:nvPr/>
        </p:nvSpPr>
        <p:spPr>
          <a:xfrm>
            <a:off x="499898" y="4114908"/>
            <a:ext cx="2780860" cy="40160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Startups </a:t>
            </a:r>
            <a:r>
              <a:rPr lang="pt-BR" sz="14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 criação</a:t>
            </a:r>
          </a:p>
        </p:txBody>
      </p: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877ABB4A-015C-4BFD-A33E-152505772AEF}"/>
              </a:ext>
            </a:extLst>
          </p:cNvPr>
          <p:cNvCxnSpPr>
            <a:cxnSpLocks/>
          </p:cNvCxnSpPr>
          <p:nvPr/>
        </p:nvCxnSpPr>
        <p:spPr>
          <a:xfrm flipV="1">
            <a:off x="3496267" y="3343837"/>
            <a:ext cx="849926" cy="4811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9A04CEF9-D53E-4B59-853D-C32E900F36EF}"/>
              </a:ext>
            </a:extLst>
          </p:cNvPr>
          <p:cNvSpPr txBox="1"/>
          <p:nvPr/>
        </p:nvSpPr>
        <p:spPr>
          <a:xfrm>
            <a:off x="3436175" y="2989988"/>
            <a:ext cx="945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rgbClr val="41414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Recepção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14E8DC20-F4D7-4F2E-807C-8ACDBB35E118}"/>
              </a:ext>
            </a:extLst>
          </p:cNvPr>
          <p:cNvSpPr txBox="1"/>
          <p:nvPr/>
        </p:nvSpPr>
        <p:spPr>
          <a:xfrm>
            <a:off x="3586611" y="3447174"/>
            <a:ext cx="639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rgbClr val="41414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Busca</a:t>
            </a:r>
          </a:p>
          <a:p>
            <a:pPr algn="ctr"/>
            <a:r>
              <a:rPr lang="pt-BR" sz="1400" dirty="0">
                <a:solidFill>
                  <a:srgbClr val="41414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Ativa</a:t>
            </a:r>
          </a:p>
        </p:txBody>
      </p:sp>
      <p:pic>
        <p:nvPicPr>
          <p:cNvPr id="6" name="Gráfico 5" descr="Moedas estrutura de tópicos">
            <a:extLst>
              <a:ext uri="{FF2B5EF4-FFF2-40B4-BE49-F238E27FC236}">
                <a16:creationId xmlns:a16="http://schemas.microsoft.com/office/drawing/2014/main" id="{E3D7D533-9A11-478C-A7D3-6E6E995C35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55244" y="4030267"/>
            <a:ext cx="655262" cy="655262"/>
          </a:xfrm>
          <a:prstGeom prst="rect">
            <a:avLst/>
          </a:prstGeom>
        </p:spPr>
      </p:pic>
      <p:sp>
        <p:nvSpPr>
          <p:cNvPr id="51" name="CaixaDeTexto 50">
            <a:extLst>
              <a:ext uri="{FF2B5EF4-FFF2-40B4-BE49-F238E27FC236}">
                <a16:creationId xmlns:a16="http://schemas.microsoft.com/office/drawing/2014/main" id="{5D918B2E-D434-4C1C-A68A-D657082E9FF1}"/>
              </a:ext>
            </a:extLst>
          </p:cNvPr>
          <p:cNvSpPr txBox="1"/>
          <p:nvPr/>
        </p:nvSpPr>
        <p:spPr>
          <a:xfrm>
            <a:off x="3675351" y="4579832"/>
            <a:ext cx="1502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solidFill>
                  <a:srgbClr val="41414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Múltiplas formas de monetização</a:t>
            </a: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1FF3E501-A846-42B9-9AA8-3AEECBD23BE4}"/>
              </a:ext>
            </a:extLst>
          </p:cNvPr>
          <p:cNvSpPr/>
          <p:nvPr/>
        </p:nvSpPr>
        <p:spPr>
          <a:xfrm>
            <a:off x="8212110" y="3302695"/>
            <a:ext cx="2980033" cy="75507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Instituições públicas e privadas para consumo</a:t>
            </a:r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3C9336F2-925A-443D-A8D5-4592A4FD5474}"/>
              </a:ext>
            </a:extLst>
          </p:cNvPr>
          <p:cNvSpPr/>
          <p:nvPr/>
        </p:nvSpPr>
        <p:spPr>
          <a:xfrm>
            <a:off x="8212110" y="4207609"/>
            <a:ext cx="2980033" cy="75507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Instituições públicas para inovação e provas de conceito</a:t>
            </a:r>
          </a:p>
        </p:txBody>
      </p:sp>
      <p:cxnSp>
        <p:nvCxnSpPr>
          <p:cNvPr id="63" name="Conector de Seta Reta 62">
            <a:extLst>
              <a:ext uri="{FF2B5EF4-FFF2-40B4-BE49-F238E27FC236}">
                <a16:creationId xmlns:a16="http://schemas.microsoft.com/office/drawing/2014/main" id="{2804B5EF-8AA4-41C3-ABA3-74375110A707}"/>
              </a:ext>
            </a:extLst>
          </p:cNvPr>
          <p:cNvCxnSpPr>
            <a:cxnSpLocks/>
          </p:cNvCxnSpPr>
          <p:nvPr/>
        </p:nvCxnSpPr>
        <p:spPr>
          <a:xfrm>
            <a:off x="5995339" y="4415246"/>
            <a:ext cx="0" cy="61830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AE2B5700-1051-48B8-8518-28A9BB26EFD0}"/>
              </a:ext>
            </a:extLst>
          </p:cNvPr>
          <p:cNvCxnSpPr>
            <a:cxnSpLocks/>
          </p:cNvCxnSpPr>
          <p:nvPr/>
        </p:nvCxnSpPr>
        <p:spPr>
          <a:xfrm flipV="1">
            <a:off x="7413245" y="1809294"/>
            <a:ext cx="746168" cy="412891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DB4704B7-8341-4B33-93AC-80EE5D029A1F}"/>
              </a:ext>
            </a:extLst>
          </p:cNvPr>
          <p:cNvGrpSpPr/>
          <p:nvPr/>
        </p:nvGrpSpPr>
        <p:grpSpPr>
          <a:xfrm>
            <a:off x="8212111" y="1359555"/>
            <a:ext cx="2980033" cy="970111"/>
            <a:chOff x="8125021" y="1359555"/>
            <a:chExt cx="2980033" cy="970111"/>
          </a:xfrm>
        </p:grpSpPr>
        <p:sp>
          <p:nvSpPr>
            <p:cNvPr id="76" name="Retângulo: Cantos Arredondados 75">
              <a:extLst>
                <a:ext uri="{FF2B5EF4-FFF2-40B4-BE49-F238E27FC236}">
                  <a16:creationId xmlns:a16="http://schemas.microsoft.com/office/drawing/2014/main" id="{999E6014-D64E-4027-9F3C-FEDDC1A44232}"/>
                </a:ext>
              </a:extLst>
            </p:cNvPr>
            <p:cNvSpPr/>
            <p:nvPr/>
          </p:nvSpPr>
          <p:spPr>
            <a:xfrm>
              <a:off x="8125021" y="1359555"/>
              <a:ext cx="2980033" cy="755079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Parceiros para avaliação preliminar</a:t>
              </a:r>
            </a:p>
          </p:txBody>
        </p:sp>
        <p:sp>
          <p:nvSpPr>
            <p:cNvPr id="77" name="Retângulo: Cantos Arredondados 76">
              <a:extLst>
                <a:ext uri="{FF2B5EF4-FFF2-40B4-BE49-F238E27FC236}">
                  <a16:creationId xmlns:a16="http://schemas.microsoft.com/office/drawing/2014/main" id="{6E5B30D0-172A-4B67-8CA5-BF215A189A7E}"/>
                </a:ext>
              </a:extLst>
            </p:cNvPr>
            <p:cNvSpPr/>
            <p:nvPr/>
          </p:nvSpPr>
          <p:spPr>
            <a:xfrm>
              <a:off x="8220892" y="2013270"/>
              <a:ext cx="794028" cy="30777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D34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CIEB</a:t>
              </a:r>
              <a:endParaRPr lang="pt-BR" sz="18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80" name="Retângulo: Cantos Arredondados 79">
              <a:extLst>
                <a:ext uri="{FF2B5EF4-FFF2-40B4-BE49-F238E27FC236}">
                  <a16:creationId xmlns:a16="http://schemas.microsoft.com/office/drawing/2014/main" id="{16E93EC7-F428-4FFD-AAAB-CEB411FFF540}"/>
                </a:ext>
              </a:extLst>
            </p:cNvPr>
            <p:cNvSpPr/>
            <p:nvPr/>
          </p:nvSpPr>
          <p:spPr>
            <a:xfrm>
              <a:off x="9119422" y="2021889"/>
              <a:ext cx="991230" cy="30777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D34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TELLUS</a:t>
              </a:r>
            </a:p>
          </p:txBody>
        </p:sp>
        <p:sp>
          <p:nvSpPr>
            <p:cNvPr id="81" name="Retângulo: Cantos Arredondados 80">
              <a:extLst>
                <a:ext uri="{FF2B5EF4-FFF2-40B4-BE49-F238E27FC236}">
                  <a16:creationId xmlns:a16="http://schemas.microsoft.com/office/drawing/2014/main" id="{DCFBF6E7-42E1-43A9-B1CD-2558515EF4E9}"/>
                </a:ext>
              </a:extLst>
            </p:cNvPr>
            <p:cNvSpPr/>
            <p:nvPr/>
          </p:nvSpPr>
          <p:spPr>
            <a:xfrm>
              <a:off x="10218326" y="2013392"/>
              <a:ext cx="794028" cy="30777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D34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rgbClr val="41414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...</a:t>
              </a:r>
              <a:endParaRPr lang="pt-BR" sz="1800" dirty="0">
                <a:solidFill>
                  <a:srgbClr val="41414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586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 descr="Forma, Padrão do plano de fundo&#10;&#10;Descrição gerada automaticamente">
            <a:extLst>
              <a:ext uri="{FF2B5EF4-FFF2-40B4-BE49-F238E27FC236}">
                <a16:creationId xmlns:a16="http://schemas.microsoft.com/office/drawing/2014/main" id="{0EA4CB43-1178-4346-BAD4-D62116E8939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60286" cy="685800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06EFD35-7A6A-4119-8B59-1855623B1CF2}"/>
              </a:ext>
            </a:extLst>
          </p:cNvPr>
          <p:cNvCxnSpPr/>
          <p:nvPr/>
        </p:nvCxnSpPr>
        <p:spPr>
          <a:xfrm>
            <a:off x="-8709" y="6566263"/>
            <a:ext cx="9344297" cy="0"/>
          </a:xfrm>
          <a:prstGeom prst="line">
            <a:avLst/>
          </a:prstGeom>
          <a:ln w="28575">
            <a:solidFill>
              <a:srgbClr val="16882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7" name="Imagem 6" descr="Ícone&#10;&#10;Descrição gerada automaticamente">
            <a:extLst>
              <a:ext uri="{FF2B5EF4-FFF2-40B4-BE49-F238E27FC236}">
                <a16:creationId xmlns:a16="http://schemas.microsoft.com/office/drawing/2014/main" id="{AC4AD30A-8979-414C-BF7B-A833CE120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233" y="6169828"/>
            <a:ext cx="2780860" cy="535573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AB2E8F3E-5FFD-4F0C-B907-C83567AE701C}"/>
              </a:ext>
            </a:extLst>
          </p:cNvPr>
          <p:cNvGrpSpPr/>
          <p:nvPr/>
        </p:nvGrpSpPr>
        <p:grpSpPr>
          <a:xfrm>
            <a:off x="0" y="-2084"/>
            <a:ext cx="12192000" cy="158644"/>
            <a:chOff x="0" y="-2084"/>
            <a:chExt cx="12192000" cy="158644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9C8717AD-664E-40A2-8948-8770DADBBDCD}"/>
                </a:ext>
              </a:extLst>
            </p:cNvPr>
            <p:cNvSpPr/>
            <p:nvPr/>
          </p:nvSpPr>
          <p:spPr>
            <a:xfrm>
              <a:off x="0" y="-2084"/>
              <a:ext cx="4040778" cy="155949"/>
            </a:xfrm>
            <a:prstGeom prst="rect">
              <a:avLst/>
            </a:prstGeom>
            <a:solidFill>
              <a:srgbClr val="1688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47498199-2A55-409B-BF74-542765A54941}"/>
                </a:ext>
              </a:extLst>
            </p:cNvPr>
            <p:cNvSpPr/>
            <p:nvPr/>
          </p:nvSpPr>
          <p:spPr>
            <a:xfrm>
              <a:off x="4040777" y="-2084"/>
              <a:ext cx="4040777" cy="155957"/>
            </a:xfrm>
            <a:prstGeom prst="rect">
              <a:avLst/>
            </a:prstGeom>
            <a:solidFill>
              <a:srgbClr val="FFCD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1A1D0D5D-1666-440E-9654-3B242B9EE6B2}"/>
                </a:ext>
              </a:extLst>
            </p:cNvPr>
            <p:cNvSpPr/>
            <p:nvPr/>
          </p:nvSpPr>
          <p:spPr>
            <a:xfrm>
              <a:off x="8081554" y="-2084"/>
              <a:ext cx="4110446" cy="158644"/>
            </a:xfrm>
            <a:prstGeom prst="rect">
              <a:avLst/>
            </a:prstGeom>
            <a:solidFill>
              <a:srgbClr val="155B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233443F-266C-47F5-90C2-DCDB36CBB6DC}"/>
              </a:ext>
            </a:extLst>
          </p:cNvPr>
          <p:cNvSpPr txBox="1"/>
          <p:nvPr/>
        </p:nvSpPr>
        <p:spPr>
          <a:xfrm>
            <a:off x="176505" y="291736"/>
            <a:ext cx="3235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68821"/>
                </a:solidFill>
                <a:latin typeface="Century Gothic" panose="020B0502020202020204" pitchFamily="34" charset="0"/>
                <a:cs typeface="Segoe UI Semibold" panose="020B0702040204020203" pitchFamily="34" charset="0"/>
              </a:rPr>
              <a:t>Eixos de Atuação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4087C2C9-6734-4CE9-8C4B-AE4E455F4B4E}"/>
              </a:ext>
            </a:extLst>
          </p:cNvPr>
          <p:cNvGrpSpPr/>
          <p:nvPr/>
        </p:nvGrpSpPr>
        <p:grpSpPr>
          <a:xfrm>
            <a:off x="0" y="891264"/>
            <a:ext cx="12192000" cy="155957"/>
            <a:chOff x="0" y="-2084"/>
            <a:chExt cx="12192000" cy="155957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A131C52C-F1B2-43B8-9C23-9E245A1055BF}"/>
                </a:ext>
              </a:extLst>
            </p:cNvPr>
            <p:cNvSpPr/>
            <p:nvPr/>
          </p:nvSpPr>
          <p:spPr>
            <a:xfrm>
              <a:off x="0" y="-2084"/>
              <a:ext cx="4040778" cy="155949"/>
            </a:xfrm>
            <a:prstGeom prst="rect">
              <a:avLst/>
            </a:prstGeom>
            <a:solidFill>
              <a:srgbClr val="168821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2061B503-42E5-4106-959C-4517C7F4669F}"/>
                </a:ext>
              </a:extLst>
            </p:cNvPr>
            <p:cNvSpPr/>
            <p:nvPr/>
          </p:nvSpPr>
          <p:spPr>
            <a:xfrm>
              <a:off x="4040777" y="-2084"/>
              <a:ext cx="4040777" cy="155957"/>
            </a:xfrm>
            <a:prstGeom prst="rect">
              <a:avLst/>
            </a:prstGeom>
            <a:solidFill>
              <a:srgbClr val="FFCD07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BD5A3ED-1B2A-4B66-ACD7-6BA6ACD35BFC}"/>
                </a:ext>
              </a:extLst>
            </p:cNvPr>
            <p:cNvSpPr/>
            <p:nvPr/>
          </p:nvSpPr>
          <p:spPr>
            <a:xfrm>
              <a:off x="8081554" y="-2084"/>
              <a:ext cx="4110446" cy="155948"/>
            </a:xfrm>
            <a:prstGeom prst="rect">
              <a:avLst/>
            </a:prstGeom>
            <a:solidFill>
              <a:srgbClr val="155BCB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4487A10B-8F47-4B71-A1AB-F66C365E678D}"/>
              </a:ext>
            </a:extLst>
          </p:cNvPr>
          <p:cNvSpPr/>
          <p:nvPr/>
        </p:nvSpPr>
        <p:spPr>
          <a:xfrm>
            <a:off x="9110430" y="1185076"/>
            <a:ext cx="3081569" cy="484996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3270C9">
                  <a:shade val="30000"/>
                  <a:satMod val="115000"/>
                </a:srgbClr>
              </a:gs>
              <a:gs pos="50000">
                <a:srgbClr val="3270C9">
                  <a:shade val="67500"/>
                  <a:satMod val="115000"/>
                </a:srgbClr>
              </a:gs>
              <a:gs pos="100000">
                <a:srgbClr val="3270C9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E4ED386B-2068-4745-882C-5AEBD02C1F08}"/>
              </a:ext>
            </a:extLst>
          </p:cNvPr>
          <p:cNvSpPr/>
          <p:nvPr/>
        </p:nvSpPr>
        <p:spPr>
          <a:xfrm>
            <a:off x="6067813" y="1185076"/>
            <a:ext cx="3081569" cy="484996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FD345">
                  <a:shade val="30000"/>
                  <a:satMod val="115000"/>
                </a:srgbClr>
              </a:gs>
              <a:gs pos="50000">
                <a:srgbClr val="FFD345">
                  <a:shade val="67500"/>
                  <a:satMod val="115000"/>
                </a:srgbClr>
              </a:gs>
              <a:gs pos="100000">
                <a:srgbClr val="FFD34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EF8602AF-FA54-4BB4-BC9D-429E2F2F6AF7}"/>
              </a:ext>
            </a:extLst>
          </p:cNvPr>
          <p:cNvSpPr/>
          <p:nvPr/>
        </p:nvSpPr>
        <p:spPr>
          <a:xfrm>
            <a:off x="3033906" y="1185076"/>
            <a:ext cx="3081569" cy="484996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59947">
                  <a:shade val="30000"/>
                  <a:satMod val="115000"/>
                </a:srgbClr>
              </a:gs>
              <a:gs pos="50000">
                <a:srgbClr val="459947">
                  <a:shade val="67500"/>
                  <a:satMod val="115000"/>
                </a:srgbClr>
              </a:gs>
              <a:gs pos="100000">
                <a:srgbClr val="459947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131F2023-556D-4960-8E79-583546C515FC}"/>
              </a:ext>
            </a:extLst>
          </p:cNvPr>
          <p:cNvSpPr/>
          <p:nvPr/>
        </p:nvSpPr>
        <p:spPr>
          <a:xfrm>
            <a:off x="-8710" y="1185076"/>
            <a:ext cx="3081569" cy="484996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368227">
                  <a:shade val="30000"/>
                  <a:satMod val="115000"/>
                </a:srgbClr>
              </a:gs>
              <a:gs pos="50000">
                <a:srgbClr val="368227">
                  <a:shade val="67500"/>
                  <a:satMod val="115000"/>
                </a:srgbClr>
              </a:gs>
              <a:gs pos="100000">
                <a:srgbClr val="368227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8EADE8AB-C238-4963-8575-284D0462D25B}"/>
              </a:ext>
            </a:extLst>
          </p:cNvPr>
          <p:cNvGrpSpPr/>
          <p:nvPr/>
        </p:nvGrpSpPr>
        <p:grpSpPr>
          <a:xfrm>
            <a:off x="314810" y="1361563"/>
            <a:ext cx="2714741" cy="4300693"/>
            <a:chOff x="314810" y="1361563"/>
            <a:chExt cx="2714741" cy="4300693"/>
          </a:xfrm>
        </p:grpSpPr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BF6B8D9D-3BE0-4F1E-B7D4-05E161ABABD7}"/>
                </a:ext>
              </a:extLst>
            </p:cNvPr>
            <p:cNvSpPr txBox="1"/>
            <p:nvPr/>
          </p:nvSpPr>
          <p:spPr>
            <a:xfrm>
              <a:off x="464768" y="1361563"/>
              <a:ext cx="213821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0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Áreas atendidas/</a:t>
              </a:r>
            </a:p>
            <a:p>
              <a:pPr algn="ctr"/>
              <a:r>
                <a:rPr lang="pt-BR" sz="20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Disciplinas</a:t>
              </a:r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51F27D71-651F-48EB-BAD8-2032FC85C3EA}"/>
                </a:ext>
              </a:extLst>
            </p:cNvPr>
            <p:cNvSpPr txBox="1"/>
            <p:nvPr/>
          </p:nvSpPr>
          <p:spPr>
            <a:xfrm>
              <a:off x="314810" y="2245936"/>
              <a:ext cx="2714741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44000" indent="-144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" panose="020B0502040204020203" pitchFamily="34" charset="0"/>
                  <a:ea typeface="Open Sans Condensed Light"/>
                  <a:cs typeface="Segoe UI" panose="020B0502040204020203" pitchFamily="34" charset="0"/>
                </a:rPr>
                <a:t>Acompanhamento Pedagógico</a:t>
              </a:r>
            </a:p>
            <a:p>
              <a:pPr marL="144000" indent="-144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" panose="020B0502040204020203" pitchFamily="34" charset="0"/>
                  <a:ea typeface="Open Sans Condensed Light"/>
                  <a:cs typeface="Segoe UI" panose="020B0502040204020203" pitchFamily="34" charset="0"/>
                </a:rPr>
                <a:t>Disciplinas Curriculares </a:t>
              </a:r>
            </a:p>
            <a:p>
              <a:pPr marL="144000" indent="-144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" panose="020B0502040204020203" pitchFamily="34" charset="0"/>
                  <a:ea typeface="Open Sans Condensed Light"/>
                  <a:cs typeface="Segoe UI" panose="020B0502040204020203" pitchFamily="34" charset="0"/>
                </a:rPr>
                <a:t>Cultura Digital </a:t>
              </a:r>
            </a:p>
            <a:p>
              <a:pPr marL="144000" indent="-144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" panose="020B0502040204020203" pitchFamily="34" charset="0"/>
                  <a:ea typeface="Open Sans Condensed Light"/>
                  <a:cs typeface="Segoe UI" panose="020B0502040204020203" pitchFamily="34" charset="0"/>
                </a:rPr>
                <a:t>Cultura e Artes </a:t>
              </a:r>
            </a:p>
            <a:p>
              <a:pPr marL="144000" indent="-144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" panose="020B0502040204020203" pitchFamily="34" charset="0"/>
                  <a:ea typeface="Open Sans Condensed Light"/>
                  <a:cs typeface="Segoe UI" panose="020B0502040204020203" pitchFamily="34" charset="0"/>
                </a:rPr>
                <a:t>Educação Financeira  </a:t>
              </a:r>
            </a:p>
            <a:p>
              <a:pPr marL="144000" indent="-144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" panose="020B0502040204020203" pitchFamily="34" charset="0"/>
                  <a:ea typeface="Open Sans Condensed Light"/>
                  <a:cs typeface="Segoe UI" panose="020B0502040204020203" pitchFamily="34" charset="0"/>
                </a:rPr>
                <a:t>Direitos Humanos em</a:t>
              </a:r>
              <a:br>
                <a:rPr lang="pt-B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" panose="020B0502040204020203" pitchFamily="34" charset="0"/>
                  <a:ea typeface="Open Sans Condensed Light"/>
                  <a:cs typeface="Segoe UI" panose="020B0502040204020203" pitchFamily="34" charset="0"/>
                </a:rPr>
              </a:br>
              <a:r>
                <a:rPr lang="pt-B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" panose="020B0502040204020203" pitchFamily="34" charset="0"/>
                  <a:ea typeface="Open Sans Condensed Light"/>
                  <a:cs typeface="Segoe UI" panose="020B0502040204020203" pitchFamily="34" charset="0"/>
                </a:rPr>
                <a:t>Educação </a:t>
              </a:r>
            </a:p>
            <a:p>
              <a:pPr marL="144000" indent="-144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" panose="020B0502040204020203" pitchFamily="34" charset="0"/>
                  <a:ea typeface="Open Sans Condensed Light"/>
                  <a:cs typeface="Segoe UI" panose="020B0502040204020203" pitchFamily="34" charset="0"/>
                </a:rPr>
                <a:t>Educação Ambiental</a:t>
              </a:r>
            </a:p>
            <a:p>
              <a:pPr marL="144000" indent="-144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" panose="020B0502040204020203" pitchFamily="34" charset="0"/>
                  <a:ea typeface="Open Sans Condensed Light"/>
                  <a:cs typeface="Segoe UI" panose="020B0502040204020203" pitchFamily="34" charset="0"/>
                </a:rPr>
                <a:t>Esporte e Lazer </a:t>
              </a:r>
            </a:p>
            <a:p>
              <a:pPr marL="144000" indent="-144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" panose="020B0502040204020203" pitchFamily="34" charset="0"/>
                  <a:ea typeface="Open Sans Condensed Light"/>
                  <a:cs typeface="Segoe UI" panose="020B0502040204020203" pitchFamily="34" charset="0"/>
                </a:rPr>
                <a:t>Programação</a:t>
              </a:r>
              <a:endParaRPr lang="pt-BR" sz="1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endParaRPr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B4749E7-EB89-4E4F-B7C5-B00AA0CF3156}"/>
              </a:ext>
            </a:extLst>
          </p:cNvPr>
          <p:cNvSpPr txBox="1"/>
          <p:nvPr/>
        </p:nvSpPr>
        <p:spPr>
          <a:xfrm>
            <a:off x="3849123" y="1361563"/>
            <a:ext cx="14373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Tipo de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Tecnologia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9E46645-91FA-42CA-B1C9-B49A00D81193}"/>
              </a:ext>
            </a:extLst>
          </p:cNvPr>
          <p:cNvSpPr txBox="1"/>
          <p:nvPr/>
        </p:nvSpPr>
        <p:spPr>
          <a:xfrm>
            <a:off x="3353072" y="2245936"/>
            <a:ext cx="271474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Aplicativo para        Dispositivo Móvel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Game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Conteúdo Educacional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Curso On-Line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Hardware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Serviço/Consultoria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Software Desktop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Software para Servidor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Software Web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29EBD98B-389E-4E7D-A5DE-5F4C833922AA}"/>
              </a:ext>
            </a:extLst>
          </p:cNvPr>
          <p:cNvSpPr txBox="1"/>
          <p:nvPr/>
        </p:nvSpPr>
        <p:spPr>
          <a:xfrm>
            <a:off x="6807937" y="1361563"/>
            <a:ext cx="16049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Modo de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Contratação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5584879F-8F83-4448-95CE-58FDB3169385}"/>
              </a:ext>
            </a:extLst>
          </p:cNvPr>
          <p:cNvSpPr txBox="1"/>
          <p:nvPr/>
        </p:nvSpPr>
        <p:spPr>
          <a:xfrm>
            <a:off x="6379077" y="2245936"/>
            <a:ext cx="2714741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Gratuito 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Doações com ou sem encargos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Acordo com grandes fornecedores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Acordo com Startups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Contratação Centralizada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ARPs</a:t>
            </a:r>
            <a:endParaRPr lang="pt-BR" sz="16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Segoe UI" panose="020B0502040204020203" pitchFamily="34" charset="0"/>
              <a:ea typeface="Open Sans Condensed Light"/>
              <a:cs typeface="Segoe UI" panose="020B0502040204020203" pitchFamily="34" charset="0"/>
            </a:endParaRP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Incorporação de iniciativas   da Rede Educacional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9C3A3F9F-D3B6-48FC-A2F0-8F91778A5A60}"/>
              </a:ext>
            </a:extLst>
          </p:cNvPr>
          <p:cNvSpPr txBox="1"/>
          <p:nvPr/>
        </p:nvSpPr>
        <p:spPr>
          <a:xfrm>
            <a:off x="10120767" y="1514657"/>
            <a:ext cx="1047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Público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827931D7-D03A-482C-87E3-FD8FF783906E}"/>
              </a:ext>
            </a:extLst>
          </p:cNvPr>
          <p:cNvSpPr txBox="1"/>
          <p:nvPr/>
        </p:nvSpPr>
        <p:spPr>
          <a:xfrm>
            <a:off x="9402292" y="2245936"/>
            <a:ext cx="2714741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Alunos (diversos níveis)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Professores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Gestores Educacionais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Open Sans Condensed Light"/>
                <a:cs typeface="Segoe UI" panose="020B0502040204020203" pitchFamily="34" charset="0"/>
              </a:rPr>
              <a:t>Comunidade em Geral </a:t>
            </a:r>
          </a:p>
        </p:txBody>
      </p:sp>
    </p:spTree>
    <p:extLst>
      <p:ext uri="{BB962C8B-B14F-4D97-AF65-F5344CB8AC3E}">
        <p14:creationId xmlns:p14="http://schemas.microsoft.com/office/powerpoint/2010/main" val="3525787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 descr="Forma, Padrão do plano de fundo&#10;&#10;Descrição gerada automaticamente">
            <a:extLst>
              <a:ext uri="{FF2B5EF4-FFF2-40B4-BE49-F238E27FC236}">
                <a16:creationId xmlns:a16="http://schemas.microsoft.com/office/drawing/2014/main" id="{0EA4CB43-1178-4346-BAD4-D62116E8939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5" y="0"/>
            <a:ext cx="6860286" cy="685800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06EFD35-7A6A-4119-8B59-1855623B1CF2}"/>
              </a:ext>
            </a:extLst>
          </p:cNvPr>
          <p:cNvCxnSpPr/>
          <p:nvPr/>
        </p:nvCxnSpPr>
        <p:spPr>
          <a:xfrm>
            <a:off x="-8709" y="6566263"/>
            <a:ext cx="9344297" cy="0"/>
          </a:xfrm>
          <a:prstGeom prst="line">
            <a:avLst/>
          </a:prstGeom>
          <a:ln w="28575">
            <a:solidFill>
              <a:srgbClr val="16882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7" name="Imagem 6" descr="Ícone&#10;&#10;Descrição gerada automaticamente">
            <a:extLst>
              <a:ext uri="{FF2B5EF4-FFF2-40B4-BE49-F238E27FC236}">
                <a16:creationId xmlns:a16="http://schemas.microsoft.com/office/drawing/2014/main" id="{AC4AD30A-8979-414C-BF7B-A833CE120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233" y="6169828"/>
            <a:ext cx="2780860" cy="535573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AB2E8F3E-5FFD-4F0C-B907-C83567AE701C}"/>
              </a:ext>
            </a:extLst>
          </p:cNvPr>
          <p:cNvGrpSpPr/>
          <p:nvPr/>
        </p:nvGrpSpPr>
        <p:grpSpPr>
          <a:xfrm>
            <a:off x="0" y="-2084"/>
            <a:ext cx="12192000" cy="158644"/>
            <a:chOff x="0" y="-2084"/>
            <a:chExt cx="12192000" cy="158644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9C8717AD-664E-40A2-8948-8770DADBBDCD}"/>
                </a:ext>
              </a:extLst>
            </p:cNvPr>
            <p:cNvSpPr/>
            <p:nvPr/>
          </p:nvSpPr>
          <p:spPr>
            <a:xfrm>
              <a:off x="0" y="-2084"/>
              <a:ext cx="4040778" cy="155949"/>
            </a:xfrm>
            <a:prstGeom prst="rect">
              <a:avLst/>
            </a:prstGeom>
            <a:solidFill>
              <a:srgbClr val="1688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47498199-2A55-409B-BF74-542765A54941}"/>
                </a:ext>
              </a:extLst>
            </p:cNvPr>
            <p:cNvSpPr/>
            <p:nvPr/>
          </p:nvSpPr>
          <p:spPr>
            <a:xfrm>
              <a:off x="4040777" y="-2084"/>
              <a:ext cx="4040777" cy="155957"/>
            </a:xfrm>
            <a:prstGeom prst="rect">
              <a:avLst/>
            </a:prstGeom>
            <a:solidFill>
              <a:srgbClr val="FFCD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1A1D0D5D-1666-440E-9654-3B242B9EE6B2}"/>
                </a:ext>
              </a:extLst>
            </p:cNvPr>
            <p:cNvSpPr/>
            <p:nvPr/>
          </p:nvSpPr>
          <p:spPr>
            <a:xfrm>
              <a:off x="8081554" y="-2084"/>
              <a:ext cx="4110446" cy="158644"/>
            </a:xfrm>
            <a:prstGeom prst="rect">
              <a:avLst/>
            </a:prstGeom>
            <a:solidFill>
              <a:srgbClr val="155B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233443F-266C-47F5-90C2-DCDB36CBB6DC}"/>
              </a:ext>
            </a:extLst>
          </p:cNvPr>
          <p:cNvSpPr txBox="1"/>
          <p:nvPr/>
        </p:nvSpPr>
        <p:spPr>
          <a:xfrm>
            <a:off x="176505" y="291736"/>
            <a:ext cx="4745210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2800" b="1" dirty="0">
                <a:solidFill>
                  <a:srgbClr val="168821"/>
                </a:solidFill>
                <a:latin typeface="Century Gothic"/>
                <a:cs typeface="Segoe UI Semibold"/>
              </a:rPr>
              <a:t>Iniciativas em andamento</a:t>
            </a:r>
            <a:endParaRPr lang="pt-BR" sz="2000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4087C2C9-6734-4CE9-8C4B-AE4E455F4B4E}"/>
              </a:ext>
            </a:extLst>
          </p:cNvPr>
          <p:cNvGrpSpPr/>
          <p:nvPr/>
        </p:nvGrpSpPr>
        <p:grpSpPr>
          <a:xfrm>
            <a:off x="0" y="891264"/>
            <a:ext cx="12192000" cy="155957"/>
            <a:chOff x="0" y="-2084"/>
            <a:chExt cx="12192000" cy="155957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A131C52C-F1B2-43B8-9C23-9E245A1055BF}"/>
                </a:ext>
              </a:extLst>
            </p:cNvPr>
            <p:cNvSpPr/>
            <p:nvPr/>
          </p:nvSpPr>
          <p:spPr>
            <a:xfrm>
              <a:off x="0" y="-2084"/>
              <a:ext cx="4040778" cy="155949"/>
            </a:xfrm>
            <a:prstGeom prst="rect">
              <a:avLst/>
            </a:prstGeom>
            <a:solidFill>
              <a:srgbClr val="168821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2061B503-42E5-4106-959C-4517C7F4669F}"/>
                </a:ext>
              </a:extLst>
            </p:cNvPr>
            <p:cNvSpPr/>
            <p:nvPr/>
          </p:nvSpPr>
          <p:spPr>
            <a:xfrm>
              <a:off x="4040777" y="-2084"/>
              <a:ext cx="4040777" cy="155957"/>
            </a:xfrm>
            <a:prstGeom prst="rect">
              <a:avLst/>
            </a:prstGeom>
            <a:solidFill>
              <a:srgbClr val="FFCD07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BD5A3ED-1B2A-4B66-ACD7-6BA6ACD35BFC}"/>
                </a:ext>
              </a:extLst>
            </p:cNvPr>
            <p:cNvSpPr/>
            <p:nvPr/>
          </p:nvSpPr>
          <p:spPr>
            <a:xfrm>
              <a:off x="8081554" y="-2084"/>
              <a:ext cx="4110446" cy="155948"/>
            </a:xfrm>
            <a:prstGeom prst="rect">
              <a:avLst/>
            </a:prstGeom>
            <a:solidFill>
              <a:srgbClr val="155BCB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BB3FD724-2C3F-4BB0-9694-03D347704163}"/>
              </a:ext>
            </a:extLst>
          </p:cNvPr>
          <p:cNvGrpSpPr/>
          <p:nvPr/>
        </p:nvGrpSpPr>
        <p:grpSpPr>
          <a:xfrm>
            <a:off x="504598" y="1444161"/>
            <a:ext cx="9616655" cy="1870548"/>
            <a:chOff x="287379" y="1656933"/>
            <a:chExt cx="3683726" cy="5934936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CC461B04-546B-4261-A643-5AE830AB27CB}"/>
                </a:ext>
              </a:extLst>
            </p:cNvPr>
            <p:cNvSpPr/>
            <p:nvPr/>
          </p:nvSpPr>
          <p:spPr>
            <a:xfrm>
              <a:off x="287379" y="1656933"/>
              <a:ext cx="3683726" cy="5934936"/>
            </a:xfrm>
            <a:prstGeom prst="roundRect">
              <a:avLst/>
            </a:prstGeom>
            <a:grpFill/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86BE5259-7499-469B-9E5B-8F361D4165E3}"/>
                </a:ext>
              </a:extLst>
            </p:cNvPr>
            <p:cNvSpPr txBox="1"/>
            <p:nvPr/>
          </p:nvSpPr>
          <p:spPr>
            <a:xfrm>
              <a:off x="364461" y="1915855"/>
              <a:ext cx="2335181" cy="12694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ea typeface="+mn-lt"/>
                  <a:cs typeface="Segoe UI Semibold" panose="020B0702040204020203" pitchFamily="34" charset="0"/>
                </a:rPr>
                <a:t>Office 365 for </a:t>
              </a:r>
              <a:r>
                <a:rPr lang="pt-BR" sz="20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ea typeface="+mn-lt"/>
                  <a:cs typeface="Segoe UI Semibold" panose="020B0702040204020203" pitchFamily="34" charset="0"/>
                </a:rPr>
                <a:t>Education</a:t>
              </a:r>
              <a:r>
                <a:rPr lang="pt-BR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ea typeface="+mn-lt"/>
                  <a:cs typeface="Segoe UI Semibold" panose="020B0702040204020203" pitchFamily="34" charset="0"/>
                </a:rPr>
                <a:t> - Microsoft Brasil</a:t>
              </a:r>
              <a:endPara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endParaRP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EC16F6DC-53E0-43F0-B2C9-548981B8049F}"/>
                </a:ext>
              </a:extLst>
            </p:cNvPr>
            <p:cNvSpPr txBox="1"/>
            <p:nvPr/>
          </p:nvSpPr>
          <p:spPr>
            <a:xfrm>
              <a:off x="364461" y="3353523"/>
              <a:ext cx="3561259" cy="405257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spAutoFit/>
            </a:bodyPr>
            <a:lstStyle/>
            <a:p>
              <a:pPr algn="just"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bg1"/>
                  </a:solidFill>
                  <a:latin typeface="Segoe UI "/>
                  <a:cs typeface="Segoe UI"/>
                </a:rPr>
                <a:t> Fase final de tratativas para Acordo de Cooperação Técnica entre MEC e Microsoft para </a:t>
              </a:r>
              <a:r>
                <a:rPr lang="pt-BR" sz="1600" dirty="0">
                  <a:latin typeface="Segoe UI "/>
                  <a:ea typeface="+mn-lt"/>
                  <a:cs typeface="+mn-lt"/>
                </a:rPr>
                <a:t>Disponibilização,</a:t>
              </a:r>
              <a:r>
                <a:rPr lang="pt-BR" sz="1600" b="1" dirty="0">
                  <a:latin typeface="Segoe UI "/>
                  <a:ea typeface="+mn-lt"/>
                  <a:cs typeface="+mn-lt"/>
                </a:rPr>
                <a:t> de forma não onerosa</a:t>
              </a:r>
              <a:r>
                <a:rPr lang="pt-BR" sz="1600" dirty="0">
                  <a:latin typeface="Segoe UI "/>
                  <a:ea typeface="+mn-lt"/>
                  <a:cs typeface="+mn-lt"/>
                </a:rPr>
                <a:t>, do Office 365 Educacional A1 (versão nuvem) para alunos, professores e equipes técnicas das redes de ensino estaduais, municipais e distrital</a:t>
              </a:r>
            </a:p>
            <a:p>
              <a:pPr algn="just">
                <a:buFont typeface="Arial" panose="020B0604020202020204" pitchFamily="34" charset="0"/>
                <a:buChar char="•"/>
              </a:pPr>
              <a:endParaRPr lang="pt-BR" sz="11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  <a:cs typeface="Calibri"/>
              </a:endParaRPr>
            </a:p>
            <a:p>
              <a:pPr algn="just"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bg1"/>
                  </a:solidFill>
                  <a:latin typeface="Segoe UI "/>
                  <a:cs typeface="Segoe UI"/>
                </a:rPr>
                <a:t> Adesão facultativa pelos entes educacionais 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72BB209-6D53-4517-97EE-7F4DA9212A8B}"/>
              </a:ext>
            </a:extLst>
          </p:cNvPr>
          <p:cNvGrpSpPr/>
          <p:nvPr/>
        </p:nvGrpSpPr>
        <p:grpSpPr>
          <a:xfrm>
            <a:off x="2202493" y="3732984"/>
            <a:ext cx="9724464" cy="2096023"/>
            <a:chOff x="287379" y="1656933"/>
            <a:chExt cx="3683726" cy="5934936"/>
          </a:xfr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762C36C8-2857-4E31-9EE5-199D9674F202}"/>
                </a:ext>
              </a:extLst>
            </p:cNvPr>
            <p:cNvSpPr/>
            <p:nvPr/>
          </p:nvSpPr>
          <p:spPr>
            <a:xfrm>
              <a:off x="287379" y="1656933"/>
              <a:ext cx="3683726" cy="5934936"/>
            </a:xfrm>
            <a:prstGeom prst="roundRect">
              <a:avLst/>
            </a:prstGeom>
            <a:grpFill/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EBC98B30-CE25-4491-A33F-D094F42E2075}"/>
                </a:ext>
              </a:extLst>
            </p:cNvPr>
            <p:cNvSpPr txBox="1"/>
            <p:nvPr/>
          </p:nvSpPr>
          <p:spPr>
            <a:xfrm>
              <a:off x="364461" y="1915856"/>
              <a:ext cx="2683437" cy="11329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ea typeface="+mn-lt"/>
                  <a:cs typeface="Segoe UI Semibold" panose="020B0702040204020203" pitchFamily="34" charset="0"/>
                </a:rPr>
                <a:t>Parceria entre Secretaria de Educação do Paraná e MEC</a:t>
              </a:r>
              <a:endPara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ea typeface="+mn-lt"/>
                <a:cs typeface="Segoe UI Semibold" panose="020B0702040204020203" pitchFamily="34" charset="0"/>
              </a:endParaRP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F27A2923-67F0-45D6-B325-FE4AD99487D0}"/>
                </a:ext>
              </a:extLst>
            </p:cNvPr>
            <p:cNvSpPr txBox="1"/>
            <p:nvPr/>
          </p:nvSpPr>
          <p:spPr>
            <a:xfrm>
              <a:off x="364461" y="3072417"/>
              <a:ext cx="3550133" cy="440095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spAutoFit/>
            </a:bodyPr>
            <a:lstStyle/>
            <a:p>
              <a:pPr algn="just"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bg1"/>
                  </a:solidFill>
                  <a:latin typeface="Segoe UI "/>
                  <a:cs typeface="Segoe UI"/>
                </a:rPr>
                <a:t> Objetivo de </a:t>
              </a:r>
              <a:r>
                <a:rPr lang="pt-BR" dirty="0"/>
                <a:t>potencializar produtos, soluções e iniciativas que já são referência no meio educacional, com vistas à customização e posterior disseminação junto às redes educacionais.</a:t>
              </a:r>
            </a:p>
            <a:p>
              <a:pPr algn="just">
                <a:buFont typeface="Arial" panose="020B0604020202020204" pitchFamily="34" charset="0"/>
                <a:buChar char="•"/>
              </a:pPr>
              <a:endParaRPr lang="pt-BR" sz="11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  <a:cs typeface="Calibri"/>
              </a:endParaRPr>
            </a:p>
            <a:p>
              <a:pPr algn="just"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bg1"/>
                  </a:solidFill>
                  <a:latin typeface="Segoe UI "/>
                  <a:cs typeface="Segoe UI"/>
                </a:rPr>
                <a:t> Tratativas para internalização e disseminação das soluções de gestão acadêmica escolar, contemplando as soluções de controle de frequência e gestão de informações, solução de redação com inteligência artificial, entre outras soluções da SEED/PR.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4226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 descr="Forma, Padrão do plano de fundo&#10;&#10;Descrição gerada automaticamente">
            <a:extLst>
              <a:ext uri="{FF2B5EF4-FFF2-40B4-BE49-F238E27FC236}">
                <a16:creationId xmlns:a16="http://schemas.microsoft.com/office/drawing/2014/main" id="{3C41D412-0C66-4197-84BA-F84E9CF9D4E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77691" y="4349"/>
            <a:ext cx="6714309" cy="6858000"/>
          </a:xfrm>
          <a:prstGeom prst="rect">
            <a:avLst/>
          </a:prstGeom>
        </p:spPr>
      </p:pic>
      <p:pic>
        <p:nvPicPr>
          <p:cNvPr id="20" name="Imagem 19" descr="Forma, Padrão do plano de fundo&#10;&#10;Descrição gerada automaticamente">
            <a:extLst>
              <a:ext uri="{FF2B5EF4-FFF2-40B4-BE49-F238E27FC236}">
                <a16:creationId xmlns:a16="http://schemas.microsoft.com/office/drawing/2014/main" id="{0EA4CB43-1178-4346-BAD4-D62116E8939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60286" cy="685800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06EFD35-7A6A-4119-8B59-1855623B1CF2}"/>
              </a:ext>
            </a:extLst>
          </p:cNvPr>
          <p:cNvCxnSpPr>
            <a:cxnSpLocks/>
          </p:cNvCxnSpPr>
          <p:nvPr/>
        </p:nvCxnSpPr>
        <p:spPr>
          <a:xfrm>
            <a:off x="-8709" y="6566263"/>
            <a:ext cx="12200709" cy="0"/>
          </a:xfrm>
          <a:prstGeom prst="line">
            <a:avLst/>
          </a:prstGeom>
          <a:ln w="28575">
            <a:solidFill>
              <a:srgbClr val="16882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7" name="Imagem 6" descr="Ícone&#10;&#10;Descrição gerada automaticamente">
            <a:extLst>
              <a:ext uri="{FF2B5EF4-FFF2-40B4-BE49-F238E27FC236}">
                <a16:creationId xmlns:a16="http://schemas.microsoft.com/office/drawing/2014/main" id="{AC4AD30A-8979-414C-BF7B-A833CE120F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908" y="3022536"/>
            <a:ext cx="4576381" cy="881377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AB2E8F3E-5FFD-4F0C-B907-C83567AE701C}"/>
              </a:ext>
            </a:extLst>
          </p:cNvPr>
          <p:cNvGrpSpPr/>
          <p:nvPr/>
        </p:nvGrpSpPr>
        <p:grpSpPr>
          <a:xfrm>
            <a:off x="0" y="-2084"/>
            <a:ext cx="12192000" cy="158644"/>
            <a:chOff x="0" y="-2084"/>
            <a:chExt cx="12192000" cy="158644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9C8717AD-664E-40A2-8948-8770DADBBDCD}"/>
                </a:ext>
              </a:extLst>
            </p:cNvPr>
            <p:cNvSpPr/>
            <p:nvPr/>
          </p:nvSpPr>
          <p:spPr>
            <a:xfrm>
              <a:off x="0" y="-2084"/>
              <a:ext cx="4040778" cy="155949"/>
            </a:xfrm>
            <a:prstGeom prst="rect">
              <a:avLst/>
            </a:prstGeom>
            <a:solidFill>
              <a:srgbClr val="1688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47498199-2A55-409B-BF74-542765A54941}"/>
                </a:ext>
              </a:extLst>
            </p:cNvPr>
            <p:cNvSpPr/>
            <p:nvPr/>
          </p:nvSpPr>
          <p:spPr>
            <a:xfrm>
              <a:off x="4040777" y="-2084"/>
              <a:ext cx="4040777" cy="155957"/>
            </a:xfrm>
            <a:prstGeom prst="rect">
              <a:avLst/>
            </a:prstGeom>
            <a:solidFill>
              <a:srgbClr val="FFCD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1A1D0D5D-1666-440E-9654-3B242B9EE6B2}"/>
                </a:ext>
              </a:extLst>
            </p:cNvPr>
            <p:cNvSpPr/>
            <p:nvPr/>
          </p:nvSpPr>
          <p:spPr>
            <a:xfrm>
              <a:off x="8081554" y="-2084"/>
              <a:ext cx="4110446" cy="158644"/>
            </a:xfrm>
            <a:prstGeom prst="rect">
              <a:avLst/>
            </a:prstGeom>
            <a:solidFill>
              <a:srgbClr val="155B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593868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1E0C235B6E9D44BAE23443E0F1F9A2" ma:contentTypeVersion="4" ma:contentTypeDescription="Crie um novo documento." ma:contentTypeScope="" ma:versionID="1e6e63f24aadc8949fcdcde09c9c92fd">
  <xsd:schema xmlns:xsd="http://www.w3.org/2001/XMLSchema" xmlns:xs="http://www.w3.org/2001/XMLSchema" xmlns:p="http://schemas.microsoft.com/office/2006/metadata/properties" xmlns:ns2="b46a0a46-6200-4e34-9986-83d871fbf70b" targetNamespace="http://schemas.microsoft.com/office/2006/metadata/properties" ma:root="true" ma:fieldsID="ca10444ed1434fc9dd5abefd1fa89a63" ns2:_="">
    <xsd:import namespace="b46a0a46-6200-4e34-9986-83d871fbf7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6a0a46-6200-4e34-9986-83d871fbf7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DF47B5-56BA-46B6-BAA7-A0209D74F4D7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b46a0a46-6200-4e34-9986-83d871fbf70b"/>
  </ds:schemaRefs>
</ds:datastoreItem>
</file>

<file path=customXml/itemProps2.xml><?xml version="1.0" encoding="utf-8"?>
<ds:datastoreItem xmlns:ds="http://schemas.openxmlformats.org/officeDocument/2006/customXml" ds:itemID="{E228B69D-B8F6-4500-ADBD-253788977F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2F6AC6-842B-4AC4-872B-CC24F8676A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6a0a46-6200-4e34-9986-83d871fbf7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616</Words>
  <Application>Microsoft Office PowerPoint</Application>
  <PresentationFormat>Widescreen</PresentationFormat>
  <Paragraphs>141</Paragraphs>
  <Slides>8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Century Gothic</vt:lpstr>
      <vt:lpstr>Segoe UI</vt:lpstr>
      <vt:lpstr>Segoe UI </vt:lpstr>
      <vt:lpstr>Segoe UI Semibold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Prado Chewanko(G4F)</dc:creator>
  <cp:lastModifiedBy>Jose Barreto</cp:lastModifiedBy>
  <cp:revision>32</cp:revision>
  <dcterms:created xsi:type="dcterms:W3CDTF">2021-11-09T17:36:11Z</dcterms:created>
  <dcterms:modified xsi:type="dcterms:W3CDTF">2026-10-24T23:50:24Z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0x010100971E0C235B6E9D44BAE23443E0F1F9A2</vt:lpwstr>
  </property>
</Properties>
</file>